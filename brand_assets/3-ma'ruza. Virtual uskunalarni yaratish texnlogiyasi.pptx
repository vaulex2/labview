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3" r:id="rId5"/>
    <p:sldId id="264" r:id="rId6"/>
    <p:sldId id="268" r:id="rId7"/>
    <p:sldId id="261" r:id="rId8"/>
    <p:sldId id="265" r:id="rId9"/>
    <p:sldId id="266" r:id="rId10"/>
    <p:sldId id="269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37C43-9B92-B70C-B02D-6A20B73DF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1B4558-169A-D409-A3D9-5D222A6E3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B384C-A74F-636B-4057-18132CDB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1058AD-33AC-2717-4B32-D3FC82C6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768F37-CEF5-6E99-3806-9BC21040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53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E815A-CE3F-56A6-F43B-27BE68B2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1D1852-1480-23AE-F1C9-6F403E97C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6C56D0-BA91-60FF-CB6A-04C06229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8F6A72-878E-7505-C2C6-0F5CA81C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8B11B8-66CA-684B-96AD-110DA4B9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271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F73DC-F7CC-E104-49A0-84469788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01C0EF-BD61-91D4-079E-0B06D2D8C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76003D-3CAF-668C-6909-130E05D61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0301A1-EF55-3A6E-290A-9435266E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DFE0D-6D36-DC57-FE79-08B4E181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19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123BD-E999-5FAE-59AF-A2D9D392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599057-B99B-23E9-D3C7-E7F014CC7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DE682A-A266-9276-398A-6AAEEAEDB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4901B9-D48F-3C44-DCF0-24EA42844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BF9DC4-6104-B486-846D-FFF5DAD9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C1E84D-26CE-217D-CBF0-7A1FD9D9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23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D661A-84A7-5B81-B675-36E50555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A35115-027E-01F0-84AA-8C2EA4D2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483C51-BB4C-0054-7856-7B1554810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71BD54-1AF1-7BD4-AD3F-AD01FB26E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6C042C9-9ACB-482F-7E81-D8F60BD7A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508A7F-91FA-E44B-4831-BFFCE6A93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9472B2-069A-79B6-F5EF-6E3E5E7C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19924B1-54F0-54E1-29B8-1F93644A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52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197AD-19F5-DFAD-B57A-33111E45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7999DD-C81F-FB6F-99E0-6CEDDF20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4D5B5CF-3F33-14A2-BC52-A47BB123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ACB0C7-7FA5-05C2-0992-ECD438F4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83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5C66E41-FA8B-EFC0-D65B-5AC98BB2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0D39BCB-CAB6-0B51-832C-E418A688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7565DB-56AF-B06F-3DBE-8AA5E7EE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93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D848D-41BC-98B8-C594-7B4E6C738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15E0E-7007-B7A1-9EF6-57FB3AE2F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76E15B-9B7F-EA7A-C387-38366EA88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9E2B07-360B-E5CE-A3C8-5CD73A6F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E6EFE4-1124-0CDB-2FF5-7746D51F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0468CF-EFC5-B0F3-5E23-DADD0B7D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31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6D309-4F27-D706-2F07-E908A31C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C22403D-B478-D344-1CF7-D388BD4D9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421002-9777-A4D2-3A18-8AE2568CA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735CD0-66CB-56B4-192C-933837E0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874DCC-83EC-3005-0C95-F9629B0F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FA0A38-4691-0E4D-68A3-9F6AEC44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56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C7803-0342-1A70-EF45-B7926CEE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1B02ED-BB00-6797-D09A-5949DC697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6961DE-5DB9-745C-FB2B-F6565E3F7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4FD05C-5267-B69B-41E0-AD69F401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594137-A344-CEFF-7E5F-A021EA72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84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524BBB-3979-D567-62FE-41F633E48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05E4A9-B1D1-10DC-01CD-EA014E25F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14C03-04A9-EC7B-281A-D6908FDB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B95B31-A72D-4597-7E30-B660B286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6C3FAB-6BF3-5F68-F565-457E05EE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64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72EA7-ECF5-46FA-8078-321F58493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AFC28E-13BB-227B-A10D-A6DAB731E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AC722B-B55E-85BC-9FC2-752916D40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03E3F-2081-48AD-919C-E268C8F30871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7F4383-1DEA-935C-1714-99B385C38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4F6B8C-6B42-7C46-F9ED-C9C84FD3E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016B2-B5BB-4237-9830-3BB42B7AA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08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uz/video/preview/56302656966564824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BD626-C67E-2C82-A91A-6A8FD5A51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1799"/>
            <a:ext cx="9144000" cy="538163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Virtual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uskunalarni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texnlogiyasi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11E16C-C13C-32DA-4BF7-FE2D640B97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/>
              <a:t>M.N.Ikromova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14218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FEFCCD-2666-C175-2F3C-460B8876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Reja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A9ACDC-03A8-93F6-D82F-89BA595F4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59312" cy="4351338"/>
          </a:xfrm>
        </p:spPr>
        <p:txBody>
          <a:bodyPr>
            <a:normAutofit/>
          </a:bodyPr>
          <a:lstStyle/>
          <a:p>
            <a:r>
              <a:rPr lang="en-US" sz="5400" dirty="0"/>
              <a:t>1. Controls </a:t>
            </a:r>
            <a:r>
              <a:rPr lang="en-US" sz="5400" dirty="0" err="1"/>
              <a:t>palitrasi</a:t>
            </a:r>
            <a:r>
              <a:rPr lang="en-US" sz="5400" dirty="0"/>
              <a:t>.</a:t>
            </a:r>
          </a:p>
          <a:p>
            <a:r>
              <a:rPr lang="en-US" sz="5400" dirty="0"/>
              <a:t>2. Functions </a:t>
            </a:r>
            <a:r>
              <a:rPr lang="en-US" sz="5400" dirty="0" err="1"/>
              <a:t>palitrasi</a:t>
            </a:r>
            <a:r>
              <a:rPr lang="en-US" sz="5400" dirty="0"/>
              <a:t>.</a:t>
            </a:r>
          </a:p>
          <a:p>
            <a:r>
              <a:rPr lang="en-US" sz="5400" dirty="0"/>
              <a:t>3. </a:t>
            </a:r>
            <a:r>
              <a:rPr lang="en-US" sz="5400" dirty="0" err="1"/>
              <a:t>Ma’lumot</a:t>
            </a:r>
            <a:r>
              <a:rPr lang="en-US" sz="5400" dirty="0"/>
              <a:t> </a:t>
            </a:r>
            <a:r>
              <a:rPr lang="en-US" sz="5400" dirty="0" err="1"/>
              <a:t>turlari</a:t>
            </a:r>
            <a:r>
              <a:rPr lang="en-US" sz="5400" dirty="0"/>
              <a:t> (</a:t>
            </a:r>
            <a:r>
              <a:rPr lang="en-US" sz="5400" dirty="0" err="1"/>
              <a:t>tiplari</a:t>
            </a:r>
            <a:r>
              <a:rPr lang="en-US" sz="5400" dirty="0"/>
              <a:t>).</a:t>
            </a:r>
          </a:p>
          <a:p>
            <a:r>
              <a:rPr lang="en-US" sz="5400" dirty="0"/>
              <a:t>4. </a:t>
            </a:r>
            <a:r>
              <a:rPr lang="en-US" sz="5400" dirty="0" err="1"/>
              <a:t>SubVI</a:t>
            </a:r>
            <a:r>
              <a:rPr lang="en-US" sz="5400" dirty="0"/>
              <a:t> </a:t>
            </a:r>
            <a:r>
              <a:rPr lang="en-US" sz="5400" dirty="0" err="1"/>
              <a:t>yaratish</a:t>
            </a:r>
            <a:r>
              <a:rPr lang="en-US" sz="5400" dirty="0"/>
              <a:t> </a:t>
            </a:r>
            <a:r>
              <a:rPr lang="en-US" sz="5400" dirty="0" err="1"/>
              <a:t>va</a:t>
            </a:r>
            <a:r>
              <a:rPr lang="en-US" sz="5400" dirty="0"/>
              <a:t> </a:t>
            </a:r>
            <a:r>
              <a:rPr lang="en-US" sz="5400" dirty="0" err="1"/>
              <a:t>undan</a:t>
            </a:r>
            <a:r>
              <a:rPr lang="en-US" sz="5400" dirty="0"/>
              <a:t> </a:t>
            </a:r>
            <a:r>
              <a:rPr lang="en-US" sz="5400" dirty="0" err="1"/>
              <a:t>foydalanish</a:t>
            </a:r>
            <a:r>
              <a:rPr lang="en-US" sz="5400" dirty="0"/>
              <a:t>.</a:t>
            </a:r>
          </a:p>
          <a:p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92515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DF09B-5A07-1440-9497-1C3ABBA3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Controls </a:t>
            </a:r>
            <a:r>
              <a:rPr lang="en-US" b="1" dirty="0" err="1"/>
              <a:t>palitrasi</a:t>
            </a:r>
            <a:endParaRPr lang="ru-RU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39744B5-DB57-8EB4-6BA6-9C8C2D01A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0122" y="588250"/>
            <a:ext cx="5494782" cy="6096013"/>
          </a:xfrm>
        </p:spPr>
      </p:pic>
    </p:spTree>
    <p:extLst>
      <p:ext uri="{BB962C8B-B14F-4D97-AF65-F5344CB8AC3E}">
        <p14:creationId xmlns:p14="http://schemas.microsoft.com/office/powerpoint/2010/main" val="2802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CFBAB-796C-F841-E365-59679C3C0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085"/>
            <a:ext cx="10515600" cy="43040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+mn-lt"/>
              </a:rPr>
              <a:t>Controls </a:t>
            </a:r>
            <a:r>
              <a:rPr lang="en-US" dirty="0" err="1">
                <a:latin typeface="+mn-lt"/>
              </a:rPr>
              <a:t>palitrasi</a:t>
            </a:r>
            <a:endParaRPr lang="ru-RU" dirty="0">
              <a:latin typeface="+mn-lt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84A22F5-0E15-4DAD-3A72-95E4F032E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426584"/>
              </p:ext>
            </p:extLst>
          </p:nvPr>
        </p:nvGraphicFramePr>
        <p:xfrm>
          <a:off x="548640" y="795528"/>
          <a:ext cx="11292840" cy="524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6597">
                  <a:extLst>
                    <a:ext uri="{9D8B030D-6E8A-4147-A177-3AD203B41FA5}">
                      <a16:colId xmlns:a16="http://schemas.microsoft.com/office/drawing/2014/main" val="845919672"/>
                    </a:ext>
                  </a:extLst>
                </a:gridCol>
                <a:gridCol w="8906243">
                  <a:extLst>
                    <a:ext uri="{9D8B030D-6E8A-4147-A177-3AD203B41FA5}">
                      <a16:colId xmlns:a16="http://schemas.microsoft.com/office/drawing/2014/main" val="1011303775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Numeric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boshqaruv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elementlari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yangi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turdagi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raqamlar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ko'rsatkichlari</a:t>
                      </a:r>
                      <a:r>
                        <a:rPr lang="en-US" sz="2800" dirty="0"/>
                        <a:t> (</a:t>
                      </a:r>
                      <a:r>
                        <a:rPr lang="en-US" sz="2800" dirty="0" err="1"/>
                        <a:t>raqamli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ma'lumotlarni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kiritish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chiqarish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elementlari</a:t>
                      </a:r>
                      <a:r>
                        <a:rPr lang="en-US" sz="2800" dirty="0"/>
                        <a:t>).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59181"/>
                  </a:ext>
                </a:extLst>
              </a:tr>
              <a:tr h="29963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Boolean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Boolean (</a:t>
                      </a:r>
                      <a:r>
                        <a:rPr lang="en-US" sz="2800" dirty="0" err="1"/>
                        <a:t>mantiqiy</a:t>
                      </a:r>
                      <a:r>
                        <a:rPr lang="en-US" sz="2800" dirty="0"/>
                        <a:t>) </a:t>
                      </a:r>
                      <a:r>
                        <a:rPr lang="en-US" sz="2800" dirty="0" err="1"/>
                        <a:t>boshqaruv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elementlari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ko'rsatkichlari</a:t>
                      </a:r>
                      <a:r>
                        <a:rPr lang="en-US" sz="2800" dirty="0"/>
                        <a:t> (</a:t>
                      </a:r>
                      <a:r>
                        <a:rPr lang="en-US" sz="2800" dirty="0" err="1"/>
                        <a:t>tugmalar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kalitlar</a:t>
                      </a:r>
                      <a:r>
                        <a:rPr lang="en-US" sz="2800" dirty="0"/>
                        <a:t>).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671077"/>
                  </a:ext>
                </a:extLst>
              </a:tr>
              <a:tr h="6415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String &amp; Path 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boshqaruv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elementlari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satr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tipidagi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ko'rsatkichlar</a:t>
                      </a:r>
                      <a:r>
                        <a:rPr lang="en-US" sz="2800" dirty="0"/>
                        <a:t> (</a:t>
                      </a:r>
                      <a:r>
                        <a:rPr lang="en-US" sz="2800" dirty="0" err="1"/>
                        <a:t>satr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ma'lumotlarini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kiritish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chiqarish</a:t>
                      </a:r>
                      <a:r>
                        <a:rPr lang="en-US" sz="2800" dirty="0"/>
                        <a:t>).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250630"/>
                  </a:ext>
                </a:extLst>
              </a:tr>
              <a:tr h="159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Array &amp; Cluster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har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xil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turdagi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ma'lumotlar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massivlari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klasterlarining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boshqaruv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elementlari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ko'rsatkichlari</a:t>
                      </a:r>
                      <a:r>
                        <a:rPr lang="en-US" sz="2800" dirty="0"/>
                        <a:t>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828640"/>
                  </a:ext>
                </a:extLst>
              </a:tr>
              <a:tr h="37170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List &amp; Table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ro'yxatlar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jadvallarni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boshqarish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ko'rsatkichlar</a:t>
                      </a:r>
                      <a:r>
                        <a:rPr lang="en-US" sz="2800" dirty="0"/>
                        <a:t>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327787"/>
                  </a:ext>
                </a:extLst>
              </a:tr>
              <a:tr h="37170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Graph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har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xil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turdagi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grafikalar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uchun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ko'rsatkichlar</a:t>
                      </a:r>
                      <a:r>
                        <a:rPr lang="en-US" sz="2800" dirty="0"/>
                        <a:t>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58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81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519B339-8B79-9F5F-FB4A-E1F0F2428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969536"/>
              </p:ext>
            </p:extLst>
          </p:nvPr>
        </p:nvGraphicFramePr>
        <p:xfrm>
          <a:off x="822960" y="548640"/>
          <a:ext cx="10945368" cy="576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340069012"/>
                    </a:ext>
                  </a:extLst>
                </a:gridCol>
                <a:gridCol w="8732520">
                  <a:extLst>
                    <a:ext uri="{9D8B030D-6E8A-4147-A177-3AD203B41FA5}">
                      <a16:colId xmlns:a16="http://schemas.microsoft.com/office/drawing/2014/main" val="2738849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Ring &amp; Enum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ochiladigan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ro'yxatlar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menyularni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yaratish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uchun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boshqaruv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ko'rsatkichlar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80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 I / O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k / </a:t>
                      </a:r>
                      <a:r>
                        <a:rPr lang="en-US" sz="2800" dirty="0" err="1"/>
                        <a:t>ch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uskunalarini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sozlash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uchun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grafik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ob'ektlar</a:t>
                      </a:r>
                      <a:r>
                        <a:rPr lang="en-US" sz="2800" dirty="0"/>
                        <a:t>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56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Refnum</a:t>
                      </a:r>
                      <a:endParaRPr lang="ru-RU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dastur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xususiyatlarini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boshqarish</a:t>
                      </a:r>
                      <a:r>
                        <a:rPr lang="en-US" sz="2400" dirty="0"/>
                        <a:t>. 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386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Dialog Controls</a:t>
                      </a:r>
                      <a:endParaRPr lang="ru-RU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dialog </a:t>
                      </a:r>
                      <a:r>
                        <a:rPr lang="en-US" sz="2400" dirty="0" err="1"/>
                        <a:t>ob'ektlari</a:t>
                      </a:r>
                      <a:r>
                        <a:rPr lang="en-US" sz="2400" dirty="0"/>
                        <a:t> 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104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Classic Controls</a:t>
                      </a:r>
                      <a:endParaRPr lang="ru-RU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 LabVIEW-</a:t>
                      </a:r>
                      <a:r>
                        <a:rPr lang="en-US" sz="2400" dirty="0" err="1"/>
                        <a:t>ning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oldingi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versiyalarining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grafik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obyektlarini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to'playdigan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palitra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11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Active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Active X </a:t>
                      </a:r>
                      <a:r>
                        <a:rPr lang="en-US" sz="2400" dirty="0" err="1"/>
                        <a:t>komponentlari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bilan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ishlash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uchun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ob'ektlar</a:t>
                      </a:r>
                      <a:r>
                        <a:rPr lang="en-US" sz="2400" dirty="0"/>
                        <a:t>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487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Dekoratsion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dizaynning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grafik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elementlari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Select &amp;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standart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boshqaruv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paneli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to'plamiga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kiritilmagan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boshqaruv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yoki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indikatorni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tanlash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o'rnatish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47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User &amp; Controls</a:t>
                      </a:r>
                      <a:endParaRPr lang="ru-RU" sz="24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foydalanuvchi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tomonidan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yaratilgan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boshqaruv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elementlari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ko'rsatkichlari</a:t>
                      </a:r>
                      <a:r>
                        <a:rPr lang="en-US" sz="2400" dirty="0"/>
                        <a:t>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17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335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793A4-D8D2-7129-DEAD-18B355B9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Functions </a:t>
            </a:r>
            <a:r>
              <a:rPr lang="en-US" b="1" dirty="0" err="1">
                <a:latin typeface="+mn-lt"/>
              </a:rPr>
              <a:t>palitrasi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8CA90-831F-0D1C-AD56-6B4A69C0F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583FB3-098A-BDDD-3054-7C1D2BEC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184" y="496252"/>
            <a:ext cx="4847694" cy="568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49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A7EED-6A4B-85B5-A1E7-21A5776F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1445"/>
            <a:ext cx="10515600" cy="45783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+mn-lt"/>
              </a:rPr>
              <a:t>Functions </a:t>
            </a:r>
            <a:r>
              <a:rPr lang="en-US" b="1" dirty="0" err="1">
                <a:latin typeface="+mn-lt"/>
              </a:rPr>
              <a:t>palitrasi</a:t>
            </a:r>
            <a:endParaRPr lang="ru-RU" b="1" dirty="0">
              <a:latin typeface="+mn-lt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9647919-B34C-A681-17A2-B22CE22DF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261158"/>
              </p:ext>
            </p:extLst>
          </p:nvPr>
        </p:nvGraphicFramePr>
        <p:xfrm>
          <a:off x="314960" y="892937"/>
          <a:ext cx="11734800" cy="551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7299">
                  <a:extLst>
                    <a:ext uri="{9D8B030D-6E8A-4147-A177-3AD203B41FA5}">
                      <a16:colId xmlns:a16="http://schemas.microsoft.com/office/drawing/2014/main" val="1768988446"/>
                    </a:ext>
                  </a:extLst>
                </a:gridCol>
                <a:gridCol w="9377501">
                  <a:extLst>
                    <a:ext uri="{9D8B030D-6E8A-4147-A177-3AD203B41FA5}">
                      <a16:colId xmlns:a16="http://schemas.microsoft.com/office/drawing/2014/main" val="2262094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Structures 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asosiy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tuzilmalar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tsikllar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ketma-ketliklar</a:t>
                      </a:r>
                      <a:r>
                        <a:rPr lang="en-US" sz="2800" dirty="0"/>
                        <a:t>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610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Numeric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arifmetik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operatsiyalar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hisoblash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82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Boolean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Boolean </a:t>
                      </a:r>
                      <a:r>
                        <a:rPr lang="en-US" sz="2800" dirty="0" err="1"/>
                        <a:t>tipidagi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ma'lumotlar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445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String</a:t>
                      </a:r>
                      <a:r>
                        <a:rPr lang="ru-RU" sz="2800" b="1" dirty="0"/>
                        <a:t> </a:t>
                      </a:r>
                      <a:endParaRPr lang="en-US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satrli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ma'lumotlar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343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Array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massivlar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765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Cluster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klasterlar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0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Comparison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taqqoslash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9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Time &amp; Dialog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tizim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vaqtini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sanasini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kechikishini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boshqalarni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aniqlash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shuningdek</a:t>
                      </a:r>
                      <a:r>
                        <a:rPr lang="en-US" sz="2800" dirty="0"/>
                        <a:t> dialog </a:t>
                      </a:r>
                      <a:r>
                        <a:rPr lang="en-US" sz="2800" dirty="0" err="1"/>
                        <a:t>oynalari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shakllarining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standart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286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File I / O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fayllar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 (</a:t>
                      </a:r>
                      <a:r>
                        <a:rPr lang="en-US" sz="2800" dirty="0" err="1"/>
                        <a:t>o'qish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yozish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o'chirish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hk</a:t>
                      </a:r>
                      <a:r>
                        <a:rPr lang="en-US" sz="2800" dirty="0"/>
                        <a:t>).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6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105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F96F995-60F1-E8E7-14FB-E9D6D98AF5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890284"/>
              </p:ext>
            </p:extLst>
          </p:nvPr>
        </p:nvGraphicFramePr>
        <p:xfrm>
          <a:off x="152400" y="594360"/>
          <a:ext cx="11887200" cy="566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7760">
                  <a:extLst>
                    <a:ext uri="{9D8B030D-6E8A-4147-A177-3AD203B41FA5}">
                      <a16:colId xmlns:a16="http://schemas.microsoft.com/office/drawing/2014/main" val="2601298664"/>
                    </a:ext>
                  </a:extLst>
                </a:gridCol>
                <a:gridCol w="9489440">
                  <a:extLst>
                    <a:ext uri="{9D8B030D-6E8A-4147-A177-3AD203B41FA5}">
                      <a16:colId xmlns:a16="http://schemas.microsoft.com/office/drawing/2014/main" val="36926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Data acquisition</a:t>
                      </a:r>
                      <a:endParaRPr lang="ru-RU" sz="2800" b="1" dirty="0"/>
                    </a:p>
                  </a:txBody>
                  <a:tcPr marL="0" marR="0"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axborot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yig'ish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uskunalari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011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Waveform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signallar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 (</a:t>
                      </a:r>
                      <a:r>
                        <a:rPr lang="en-US" sz="2800" dirty="0" err="1"/>
                        <a:t>maxsus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ma'lumotlar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turi</a:t>
                      </a:r>
                      <a:r>
                        <a:rPr lang="en-US" sz="2800" dirty="0"/>
                        <a:t> (</a:t>
                      </a:r>
                      <a:r>
                        <a:rPr lang="en-US" sz="2800" dirty="0" err="1"/>
                        <a:t>Klaster</a:t>
                      </a:r>
                      <a:r>
                        <a:rPr lang="en-US" sz="2800" dirty="0"/>
                        <a:t>), signal </a:t>
                      </a:r>
                      <a:r>
                        <a:rPr lang="en-US" sz="2800" dirty="0" err="1"/>
                        <a:t>yaratish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to'lqinlarni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qo'shish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diskka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diskdan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yozish</a:t>
                      </a:r>
                      <a:r>
                        <a:rPr lang="en-US" sz="2800" dirty="0"/>
                        <a:t>/</a:t>
                      </a:r>
                      <a:r>
                        <a:rPr lang="en-US" sz="2800" dirty="0" err="1"/>
                        <a:t>o'qish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boshqalar</a:t>
                      </a:r>
                      <a:r>
                        <a:rPr lang="en-US" sz="2800" dirty="0"/>
                        <a:t>.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66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Analyze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signallar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uchun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keng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to'plami</a:t>
                      </a:r>
                      <a:r>
                        <a:rPr lang="en-US" sz="2800" dirty="0"/>
                        <a:t>: </a:t>
                      </a:r>
                      <a:r>
                        <a:rPr lang="en-US" sz="2800" dirty="0" err="1"/>
                        <a:t>avlod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raqamli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ishlov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berish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raqamli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algoritmlar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boshqalar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126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Instrument I/O</a:t>
                      </a:r>
                      <a:endParaRPr lang="ru-RU" sz="28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effectLst/>
                        </a:rPr>
                        <a:t>standart</a:t>
                      </a:r>
                      <a:r>
                        <a:rPr lang="en-US" sz="2800" dirty="0">
                          <a:effectLst/>
                        </a:rPr>
                        <a:t> k/</a:t>
                      </a:r>
                      <a:r>
                        <a:rPr lang="en-US" sz="2800" dirty="0" err="1">
                          <a:effectLst/>
                        </a:rPr>
                        <a:t>ch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r>
                        <a:rPr lang="en-US" sz="2800" dirty="0" err="1">
                          <a:effectLst/>
                        </a:rPr>
                        <a:t>qurilmalari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r>
                        <a:rPr lang="en-US" sz="2800" dirty="0" err="1">
                          <a:effectLst/>
                        </a:rPr>
                        <a:t>bilan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r>
                        <a:rPr lang="en-US" sz="2800" dirty="0" err="1">
                          <a:effectLst/>
                        </a:rPr>
                        <a:t>ishlash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r>
                        <a:rPr lang="en-US" sz="2800" dirty="0" err="1">
                          <a:effectLst/>
                        </a:rPr>
                        <a:t>uchun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r>
                        <a:rPr lang="en-US" sz="2800" dirty="0" err="1">
                          <a:effectLst/>
                        </a:rPr>
                        <a:t>funktsiyalar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r>
                        <a:rPr lang="en-US" sz="2800" dirty="0" err="1">
                          <a:effectLst/>
                        </a:rPr>
                        <a:t>to'plami</a:t>
                      </a:r>
                      <a:r>
                        <a:rPr lang="en-US" sz="2800" dirty="0">
                          <a:effectLst/>
                        </a:rPr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559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Motion &amp; Vision 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video </a:t>
                      </a:r>
                      <a:r>
                        <a:rPr lang="en-US" sz="2800" dirty="0" err="1"/>
                        <a:t>tasvirlarni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qayta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ishlash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harakatni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boshqarish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26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Mathematics 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oliy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matematikaning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funktsiyalari</a:t>
                      </a:r>
                      <a:r>
                        <a:rPr lang="en-US" sz="2800" dirty="0"/>
                        <a:t> (</a:t>
                      </a:r>
                      <a:r>
                        <a:rPr lang="en-US" sz="2800" dirty="0" err="1"/>
                        <a:t>chiziqli</a:t>
                      </a:r>
                      <a:r>
                        <a:rPr lang="en-US" sz="2800" dirty="0"/>
                        <a:t> algebra </a:t>
                      </a:r>
                      <a:r>
                        <a:rPr lang="en-US" sz="2800" dirty="0" err="1"/>
                        <a:t>operatsiyalari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matritsalar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taxminiy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funktsiyalar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va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boshqalar</a:t>
                      </a:r>
                      <a:r>
                        <a:rPr lang="en-US" sz="2800" dirty="0"/>
                        <a:t>). </a:t>
                      </a:r>
                      <a:endParaRPr lang="ru-RU" sz="2800" dirty="0"/>
                    </a:p>
                  </a:txBody>
                  <a:tcPr marR="0"/>
                </a:tc>
                <a:extLst>
                  <a:ext uri="{0D108BD9-81ED-4DB2-BD59-A6C34878D82A}">
                    <a16:rowId xmlns:a16="http://schemas.microsoft.com/office/drawing/2014/main" val="437768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04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42D3EB1-9797-083D-483C-00D11876C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641213"/>
              </p:ext>
            </p:extLst>
          </p:nvPr>
        </p:nvGraphicFramePr>
        <p:xfrm>
          <a:off x="203200" y="200025"/>
          <a:ext cx="11755120" cy="627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15920">
                  <a:extLst>
                    <a:ext uri="{9D8B030D-6E8A-4147-A177-3AD203B41FA5}">
                      <a16:colId xmlns:a16="http://schemas.microsoft.com/office/drawing/2014/main" val="205294659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1657054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Communications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TCP/ I P </a:t>
                      </a:r>
                      <a:r>
                        <a:rPr lang="en-US" sz="2600" dirty="0" err="1"/>
                        <a:t>kabi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Activ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komponentlar</a:t>
                      </a:r>
                      <a:r>
                        <a:rPr lang="en-US" sz="2600" dirty="0"/>
                        <a:t>, </a:t>
                      </a:r>
                      <a:r>
                        <a:rPr lang="en-US" sz="2600" dirty="0" err="1"/>
                        <a:t>rozetkalar</a:t>
                      </a:r>
                      <a:r>
                        <a:rPr lang="en-US" sz="2600" dirty="0"/>
                        <a:t>, </a:t>
                      </a:r>
                      <a:r>
                        <a:rPr lang="en-US" sz="2600" dirty="0" err="1"/>
                        <a:t>tarmoq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protokollari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bilan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ishlash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funktsiyalari</a:t>
                      </a:r>
                      <a:r>
                        <a:rPr lang="en-US" sz="2600" dirty="0"/>
                        <a:t>. 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447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Application Control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 err="1"/>
                        <a:t>dasturni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boshqarish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funktsiyalari</a:t>
                      </a:r>
                      <a:r>
                        <a:rPr lang="en-US" sz="2600" dirty="0"/>
                        <a:t>. 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48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Graphics &amp; Sound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 err="1"/>
                        <a:t>grafik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fayllar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va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ovoz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bilan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ishlash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funktsiyalari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62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/>
                        <a:t>Tutorial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 err="1"/>
                        <a:t>o'quv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funktsiyalari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to'plami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70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Report Generation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 err="1"/>
                        <a:t>matnli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va</a:t>
                      </a:r>
                      <a:r>
                        <a:rPr lang="en-US" sz="2600" dirty="0"/>
                        <a:t> html </a:t>
                      </a:r>
                      <a:r>
                        <a:rPr lang="en-US" sz="2600" dirty="0" err="1"/>
                        <a:t>formatida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hisobotlarni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yaratish</a:t>
                      </a:r>
                      <a:r>
                        <a:rPr lang="en-US" sz="2600" dirty="0"/>
                        <a:t>, chop </a:t>
                      </a:r>
                      <a:r>
                        <a:rPr lang="en-US" sz="2600" dirty="0" err="1"/>
                        <a:t>etish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funktsiyalari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345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Advanced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effectLst/>
                        </a:rPr>
                        <a:t>LabVIEW-</a:t>
                      </a:r>
                      <a:r>
                        <a:rPr lang="en-US" sz="2600" dirty="0" err="1">
                          <a:effectLst/>
                        </a:rPr>
                        <a:t>ning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imkoniyatlarini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kengaytiradigan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qo'shimcha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funktsiyalar</a:t>
                      </a:r>
                      <a:r>
                        <a:rPr lang="en-US" sz="2600" dirty="0">
                          <a:effectLst/>
                        </a:rPr>
                        <a:t>, </a:t>
                      </a:r>
                      <a:r>
                        <a:rPr lang="en-US" sz="2600" dirty="0" err="1">
                          <a:effectLst/>
                        </a:rPr>
                        <a:t>ya'ni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portni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o'qish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va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yozish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yoki</a:t>
                      </a:r>
                      <a:r>
                        <a:rPr lang="en-US" sz="2600" dirty="0">
                          <a:effectLst/>
                        </a:rPr>
                        <a:t> windows </a:t>
                      </a:r>
                      <a:r>
                        <a:rPr lang="en-US" sz="2600" dirty="0" err="1">
                          <a:effectLst/>
                        </a:rPr>
                        <a:t>ro'yxatga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olish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kitobi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bilan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ishlash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va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boshqalar</a:t>
                      </a:r>
                      <a:r>
                        <a:rPr lang="en-US" sz="2600" dirty="0">
                          <a:effectLst/>
                        </a:rPr>
                        <a:t>, </a:t>
                      </a:r>
                      <a:r>
                        <a:rPr lang="en-US" sz="2600" dirty="0" err="1">
                          <a:effectLst/>
                        </a:rPr>
                        <a:t>shuningdek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boshqa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dasturlash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tillari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tomonidan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yozilgan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kichik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dasturlarni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chaqirish</a:t>
                      </a:r>
                      <a:r>
                        <a:rPr lang="en-US" sz="2600" dirty="0">
                          <a:effectLst/>
                        </a:rPr>
                        <a:t>.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012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/>
                        <a:t>Select </a:t>
                      </a:r>
                      <a:r>
                        <a:rPr lang="ru-RU" sz="2600" dirty="0"/>
                        <a:t>а </a:t>
                      </a:r>
                      <a:r>
                        <a:rPr lang="en-US" sz="2600" dirty="0"/>
                        <a:t>VI 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virtual </a:t>
                      </a:r>
                      <a:r>
                        <a:rPr lang="en-US" sz="2600" dirty="0" err="1"/>
                        <a:t>vosita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yoki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foydalanuvchi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funktsiyasining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diagrammalarini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tahrirlash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oynasida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tanlang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va</a:t>
                      </a:r>
                      <a:r>
                        <a:rPr lang="en-US" sz="2600" dirty="0"/>
                        <a:t> </a:t>
                      </a:r>
                      <a:r>
                        <a:rPr lang="en-US" sz="2600" dirty="0" err="1"/>
                        <a:t>o'rnating</a:t>
                      </a:r>
                      <a:r>
                        <a:rPr lang="en-US" sz="2600" dirty="0"/>
                        <a:t>. 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73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/>
                        <a:t>User Libraries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 err="1">
                          <a:effectLst/>
                        </a:rPr>
                        <a:t>foydalanuvchi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funktsiyalari</a:t>
                      </a:r>
                      <a:r>
                        <a:rPr lang="en-US" sz="2600" dirty="0">
                          <a:effectLst/>
                        </a:rPr>
                        <a:t> </a:t>
                      </a:r>
                      <a:r>
                        <a:rPr lang="en-US" sz="2600" dirty="0" err="1">
                          <a:effectLst/>
                        </a:rPr>
                        <a:t>kutubxonalari</a:t>
                      </a:r>
                      <a:endParaRPr lang="ru-RU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093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839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58114-D162-EB48-62CE-C5A672BB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8585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turlari</a:t>
            </a:r>
            <a:r>
              <a:rPr lang="en-US" dirty="0"/>
              <a:t> (</a:t>
            </a:r>
            <a:r>
              <a:rPr lang="en-US" dirty="0" err="1"/>
              <a:t>tiplari</a:t>
            </a:r>
            <a:r>
              <a:rPr lang="en-US" dirty="0"/>
              <a:t>)</a:t>
            </a: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D9D7034-BB1C-DA84-EE30-0508640540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452037"/>
              </p:ext>
            </p:extLst>
          </p:nvPr>
        </p:nvGraphicFramePr>
        <p:xfrm>
          <a:off x="164592" y="493776"/>
          <a:ext cx="11823192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5937">
                  <a:extLst>
                    <a:ext uri="{9D8B030D-6E8A-4147-A177-3AD203B41FA5}">
                      <a16:colId xmlns:a16="http://schemas.microsoft.com/office/drawing/2014/main" val="136923638"/>
                    </a:ext>
                  </a:extLst>
                </a:gridCol>
                <a:gridCol w="5359479">
                  <a:extLst>
                    <a:ext uri="{9D8B030D-6E8A-4147-A177-3AD203B41FA5}">
                      <a16:colId xmlns:a16="http://schemas.microsoft.com/office/drawing/2014/main" val="4051697513"/>
                    </a:ext>
                  </a:extLst>
                </a:gridCol>
                <a:gridCol w="4917776">
                  <a:extLst>
                    <a:ext uri="{9D8B030D-6E8A-4147-A177-3AD203B41FA5}">
                      <a16:colId xmlns:a16="http://schemas.microsoft.com/office/drawing/2014/main" val="1851575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+mn-lt"/>
                        </a:rPr>
                        <a:t>Qisqartmasi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+mn-lt"/>
                        </a:rPr>
                        <a:t>To’liq</a:t>
                      </a:r>
                      <a:r>
                        <a:rPr lang="en-US" sz="2000" dirty="0"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latin typeface="+mn-lt"/>
                        </a:rPr>
                        <a:t>nomi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+mn-lt"/>
                        </a:rPr>
                        <a:t>Izohi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894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spc="4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ЕХТ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spc="45" dirty="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128-</a:t>
                      </a:r>
                      <a:r>
                        <a:rPr lang="ru-RU" sz="2000" spc="45" dirty="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битовое</a:t>
                      </a:r>
                      <a:r>
                        <a:rPr lang="en-US" sz="2000" spc="45" dirty="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Extended-</a:t>
                      </a:r>
                      <a:r>
                        <a:rPr lang="en-US" sz="2000" spc="50" dirty="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precision floating-point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+mn-lt"/>
                        </a:rPr>
                        <a:t>kengaytirilgan</a:t>
                      </a:r>
                      <a:r>
                        <a:rPr lang="en-US" sz="2000" dirty="0"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latin typeface="+mn-lt"/>
                        </a:rPr>
                        <a:t>suzuvchi</a:t>
                      </a:r>
                      <a:r>
                        <a:rPr lang="en-US" sz="2000" dirty="0">
                          <a:latin typeface="+mn-lt"/>
                        </a:rPr>
                        <a:t> nuqta </a:t>
                      </a:r>
                      <a:r>
                        <a:rPr lang="en-US" sz="2000" dirty="0" err="1">
                          <a:latin typeface="+mn-lt"/>
                        </a:rPr>
                        <a:t>aniqligi</a:t>
                      </a:r>
                      <a:r>
                        <a:rPr lang="en-US" sz="2000" dirty="0"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latin typeface="+mn-lt"/>
                        </a:rPr>
                        <a:t>bilan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30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6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DBL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spc="6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64-</a:t>
                      </a:r>
                      <a:r>
                        <a:rPr lang="en-US" sz="2000" spc="4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ru-RU" sz="2000" spc="4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битовое</a:t>
                      </a:r>
                      <a:r>
                        <a:rPr lang="en-US" sz="2000" spc="6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Double-precision floating-point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suzuvchi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nuqtali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ikki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tomonlama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aniqlik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bilan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01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7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SGL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spc="7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32-</a:t>
                      </a:r>
                      <a:r>
                        <a:rPr lang="en-US" sz="2000" spc="4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ru-RU" sz="2000" spc="4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битовое</a:t>
                      </a:r>
                      <a:r>
                        <a:rPr lang="en-US" sz="2000" spc="7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Single-precision floating-point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suzuvchi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nuqta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bilan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bitta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aniqlik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bilan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290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I32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32</a:t>
                      </a:r>
                      <a:r>
                        <a:rPr lang="en-US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 битовое Long signed </a:t>
                      </a:r>
                      <a:r>
                        <a:rPr lang="en-US" sz="2000" spc="35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integer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belgili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bo'lgan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uzun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butun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son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419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13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ru-RU" sz="2000" spc="13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16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13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16</a:t>
                      </a:r>
                      <a:r>
                        <a:rPr lang="ru-RU" sz="2000" spc="35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2000" spc="35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Word signed integer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belgili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butun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so’z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641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35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ru-RU" sz="2000" spc="35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35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8-</a:t>
                      </a:r>
                      <a:r>
                        <a:rPr lang="en-US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битовое</a:t>
                      </a:r>
                      <a:r>
                        <a:rPr lang="en-US" sz="2000" spc="35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Byte signed integer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belgi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bilan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bayt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872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25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U32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25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32-</a:t>
                      </a:r>
                      <a:r>
                        <a:rPr lang="en-US" sz="2000" spc="2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2000" spc="2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битовое</a:t>
                      </a:r>
                      <a:r>
                        <a:rPr lang="en-US" sz="2000" spc="25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Long unsigned integer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belgisiz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uzun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butun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son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432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U16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16-</a:t>
                      </a:r>
                      <a:r>
                        <a:rPr lang="en-US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битовое Word unsigned integer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belgisiz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butun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so'z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74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U8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3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8-</a:t>
                      </a:r>
                      <a:r>
                        <a:rPr lang="en-US" sz="2000" spc="2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битовое</a:t>
                      </a:r>
                      <a:r>
                        <a:rPr lang="en-US" sz="2000" spc="30">
                          <a:solidFill>
                            <a:srgbClr val="00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Byte unsigned integer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belgisiz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butun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son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spc="3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СХТ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3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256-</a:t>
                      </a:r>
                      <a:r>
                        <a:rPr lang="ru-RU" sz="2000" spc="4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битовое</a:t>
                      </a:r>
                      <a:r>
                        <a:rPr lang="ru-RU" sz="2000" spc="2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2000" spc="2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Complex extended-precision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kengaytirilgan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aniqlik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bilan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kompleks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son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230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1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CDB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1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128-</a:t>
                      </a:r>
                      <a:r>
                        <a:rPr lang="ru-RU" sz="2000" spc="4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битовое</a:t>
                      </a:r>
                      <a:r>
                        <a:rPr lang="ru-RU" sz="2000" spc="1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2000" spc="1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Complex double-precision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ikki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tomonlama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aniqlik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bilan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kompleks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son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72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spc="2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CSG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spc="2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64-</a:t>
                      </a:r>
                      <a:r>
                        <a:rPr lang="ru-RU" sz="2000" spc="45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битовое</a:t>
                      </a:r>
                      <a:r>
                        <a:rPr lang="ru-RU" sz="2000" spc="2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2000" spc="20">
                          <a:solidFill>
                            <a:srgbClr val="FF66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Complex single-precision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yagona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aniqlik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bilan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+mn-lt"/>
                        </a:rPr>
                        <a:t>kompleks</a:t>
                      </a:r>
                      <a:r>
                        <a:rPr lang="en-US" sz="2000" dirty="0">
                          <a:effectLst/>
                          <a:latin typeface="+mn-lt"/>
                        </a:rPr>
                        <a:t> son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80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solidFill>
                            <a:srgbClr val="008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Boolea</a:t>
                      </a:r>
                      <a:r>
                        <a:rPr lang="en-US" sz="2000">
                          <a:solidFill>
                            <a:srgbClr val="008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solidFill>
                            <a:srgbClr val="008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Boolea</a:t>
                      </a:r>
                      <a:r>
                        <a:rPr lang="en-US" sz="2000">
                          <a:solidFill>
                            <a:srgbClr val="008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n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+mn-lt"/>
                        </a:rPr>
                        <a:t>Mantiqiy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25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solidFill>
                            <a:srgbClr val="FF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String</a:t>
                      </a:r>
                      <a:endParaRPr lang="ru-RU" sz="20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 err="1">
                          <a:solidFill>
                            <a:srgbClr val="FF00FF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String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+mn-lt"/>
                        </a:rPr>
                        <a:t>Satr</a:t>
                      </a:r>
                      <a:r>
                        <a:rPr lang="en-US" sz="2000" dirty="0">
                          <a:latin typeface="+mn-lt"/>
                        </a:rPr>
                        <a:t> 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324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911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E7520-75A4-3A77-15D4-D7313348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SubVI</a:t>
            </a:r>
            <a:r>
              <a:rPr lang="en-US" dirty="0"/>
              <a:t> </a:t>
            </a:r>
            <a:r>
              <a:rPr lang="en-US" dirty="0" err="1"/>
              <a:t>yaratish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undan</a:t>
            </a:r>
            <a:r>
              <a:rPr lang="en-US" dirty="0"/>
              <a:t> </a:t>
            </a:r>
            <a:r>
              <a:rPr lang="en-US" dirty="0" err="1"/>
              <a:t>foydalanish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513435-31B5-9DFE-325B-DFD18A49D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https://yandex.uz/video/preview/563026569665648247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99235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649</Words>
  <Application>Microsoft Office PowerPoint</Application>
  <PresentationFormat>Широкоэкранный</PresentationFormat>
  <Paragraphs>135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Virtual uskunalarni yaratish texnlogiyasi</vt:lpstr>
      <vt:lpstr>Reja</vt:lpstr>
      <vt:lpstr>Controls palitrasi</vt:lpstr>
      <vt:lpstr>Controls palitrasi</vt:lpstr>
      <vt:lpstr>Презентация PowerPoint</vt:lpstr>
      <vt:lpstr>Functions palitrasi</vt:lpstr>
      <vt:lpstr>Functions palitrasi</vt:lpstr>
      <vt:lpstr>Презентация PowerPoint</vt:lpstr>
      <vt:lpstr>Презентация PowerPoint</vt:lpstr>
      <vt:lpstr>Ma’lumot turlari (tiplari)</vt:lpstr>
      <vt:lpstr>SubVI yaratish va undan foydalanish.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ORGTech</dc:creator>
  <cp:lastModifiedBy>ORGTech</cp:lastModifiedBy>
  <cp:revision>10</cp:revision>
  <dcterms:created xsi:type="dcterms:W3CDTF">2024-10-06T12:21:37Z</dcterms:created>
  <dcterms:modified xsi:type="dcterms:W3CDTF">2024-11-02T08:10:33Z</dcterms:modified>
</cp:coreProperties>
</file>