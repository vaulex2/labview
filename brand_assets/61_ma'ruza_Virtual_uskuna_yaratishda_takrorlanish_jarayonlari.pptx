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359" r:id="rId3"/>
    <p:sldId id="305" r:id="rId4"/>
    <p:sldId id="357" r:id="rId5"/>
    <p:sldId id="358" r:id="rId6"/>
    <p:sldId id="360" r:id="rId7"/>
    <p:sldId id="361" r:id="rId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67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9FE593-45F7-4709-90FF-A3F4106AA278}" type="datetimeFigureOut">
              <a:rPr lang="ru-RU" smtClean="0"/>
              <a:t>28.10.2024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305AD6-A208-4770-B3FF-1F748446CBB8}" type="slidenum">
              <a:rPr lang="ru-RU" smtClean="0"/>
              <a:t>‹#›</a:t>
            </a:fld>
            <a:endParaRPr lang="ru-RU"/>
          </a:p>
        </p:txBody>
      </p:sp>
    </p:spTree>
    <p:extLst>
      <p:ext uri="{BB962C8B-B14F-4D97-AF65-F5344CB8AC3E}">
        <p14:creationId xmlns:p14="http://schemas.microsoft.com/office/powerpoint/2010/main" val="375177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eaLnBrk="1" hangingPunct="1"/>
            <a:fld id="{67658347-7840-428D-B226-616A2D66A983}" type="slidenum">
              <a:rPr lang="ru-RU" altLang="ru-RU"/>
              <a:pPr eaLnBrk="1" hangingPunct="1"/>
              <a:t>3</a:t>
            </a:fld>
            <a:endParaRPr lang="ru-RU" altLang="ru-RU"/>
          </a:p>
        </p:txBody>
      </p:sp>
      <p:sp>
        <p:nvSpPr>
          <p:cNvPr id="120835" name="Rectangle 2"/>
          <p:cNvSpPr>
            <a:spLocks noGrp="1" noRot="1" noChangeAspect="1" noChangeArrowheads="1" noTextEdit="1"/>
          </p:cNvSpPr>
          <p:nvPr>
            <p:ph type="sldImg"/>
          </p:nvPr>
        </p:nvSpPr>
        <p:spPr>
          <a:xfrm>
            <a:off x="384175" y="685800"/>
            <a:ext cx="6091238" cy="3427413"/>
          </a:xfrm>
          <a:ln/>
        </p:spPr>
      </p:sp>
      <p:sp>
        <p:nvSpPr>
          <p:cNvPr id="120836" name="Rectangle 3"/>
          <p:cNvSpPr>
            <a:spLocks noGrp="1" noChangeArrowheads="1"/>
          </p:cNvSpPr>
          <p:nvPr>
            <p:ph type="body" idx="1"/>
          </p:nvPr>
        </p:nvSpPr>
        <p:spPr>
          <a:xfrm>
            <a:off x="912813" y="4198938"/>
            <a:ext cx="5032375" cy="2865437"/>
          </a:xfrm>
          <a:noFill/>
        </p:spPr>
        <p:txBody>
          <a:bodyPr/>
          <a:lstStyle/>
          <a:p>
            <a:pPr eaLnBrk="1" hangingPunct="1">
              <a:spcBef>
                <a:spcPct val="0"/>
              </a:spcBef>
              <a:tabLst>
                <a:tab pos="228600" algn="l"/>
              </a:tabLst>
            </a:pPr>
            <a:r>
              <a:rPr lang="en-US" altLang="ru-RU" sz="1100" b="1">
                <a:latin typeface="Times"/>
              </a:rPr>
              <a:t>Time Delay</a:t>
            </a:r>
          </a:p>
          <a:p>
            <a:pPr eaLnBrk="1" hangingPunct="1">
              <a:spcBef>
                <a:spcPct val="0"/>
              </a:spcBef>
              <a:tabLst>
                <a:tab pos="228600" algn="l"/>
              </a:tabLst>
            </a:pPr>
            <a:r>
              <a:rPr lang="en-US" altLang="ru-RU" sz="1100">
                <a:latin typeface="Times"/>
              </a:rPr>
              <a:t>The Time Delay Express VI delays execution by a specified number of seconds. Following the rules of Data Flow Programming, the while loop will not iterate until all tasks inside of it are complete, thus delaying each iteration of the loop.</a:t>
            </a:r>
            <a:endParaRPr lang="en-US" altLang="ru-RU" sz="1100" b="1">
              <a:latin typeface="Times"/>
            </a:endParaRPr>
          </a:p>
          <a:p>
            <a:pPr eaLnBrk="1" hangingPunct="1">
              <a:spcBef>
                <a:spcPct val="0"/>
              </a:spcBef>
              <a:tabLst>
                <a:tab pos="228600" algn="l"/>
              </a:tabLst>
            </a:pPr>
            <a:r>
              <a:rPr lang="en-US" altLang="ru-RU" sz="1100" b="1">
                <a:latin typeface="Times"/>
              </a:rPr>
              <a:t>Timed Loops</a:t>
            </a:r>
          </a:p>
          <a:p>
            <a:pPr eaLnBrk="1" hangingPunct="1">
              <a:spcBef>
                <a:spcPct val="0"/>
              </a:spcBef>
              <a:tabLst>
                <a:tab pos="228600" algn="l"/>
              </a:tabLst>
            </a:pPr>
            <a:r>
              <a:rPr lang="en-US" altLang="ru-RU" sz="1100">
                <a:latin typeface="Times"/>
              </a:rPr>
              <a:t>Executes each iteration of the loop at the period you specify. Use the Timed Loop when you want to develop VIs with multi-rate timing capabilities, precise timing, feedback on loop execution, timing characteristics that change dynamically, or several levels of execution priority.</a:t>
            </a:r>
          </a:p>
          <a:p>
            <a:pPr eaLnBrk="1" hangingPunct="1">
              <a:spcBef>
                <a:spcPct val="0"/>
              </a:spcBef>
              <a:tabLst>
                <a:tab pos="228600" algn="l"/>
              </a:tabLst>
            </a:pPr>
            <a:r>
              <a:rPr lang="en-US" altLang="ru-RU" sz="1100">
                <a:latin typeface="Times"/>
              </a:rPr>
              <a:t>Double-click the Input Node or right-click the Input Node and select </a:t>
            </a:r>
            <a:r>
              <a:rPr lang="en-US" altLang="ru-RU" sz="1100" b="1">
                <a:latin typeface="Times"/>
              </a:rPr>
              <a:t>Configure Timed Loop</a:t>
            </a:r>
            <a:r>
              <a:rPr lang="en-US" altLang="ru-RU" sz="1100">
                <a:latin typeface="Times"/>
              </a:rPr>
              <a:t> from the shortcut menu to display the Loop Configuration dialog box, where you can configure the Timed Loop. The values you enter in the </a:t>
            </a:r>
            <a:r>
              <a:rPr lang="en-US" altLang="ru-RU" sz="1100" b="1">
                <a:latin typeface="Times"/>
              </a:rPr>
              <a:t>Loop Configuration</a:t>
            </a:r>
            <a:r>
              <a:rPr lang="en-US" altLang="ru-RU" sz="1100">
                <a:latin typeface="Times"/>
              </a:rPr>
              <a:t> dialog box appear as options in the Input Node.</a:t>
            </a:r>
          </a:p>
        </p:txBody>
      </p:sp>
      <p:pic>
        <p:nvPicPr>
          <p:cNvPr id="1208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688" y="6877050"/>
            <a:ext cx="330200" cy="334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838" name="Rectangle 5"/>
          <p:cNvSpPr>
            <a:spLocks noChangeArrowheads="1"/>
          </p:cNvSpPr>
          <p:nvPr/>
        </p:nvSpPr>
        <p:spPr bwMode="auto">
          <a:xfrm>
            <a:off x="1160463" y="6800850"/>
            <a:ext cx="4752975" cy="183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09" tIns="45705" rIns="91409" bIns="45705"/>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r>
              <a:rPr lang="en-US" altLang="ru-RU" sz="1100" b="1">
                <a:latin typeface="Times"/>
              </a:rPr>
              <a:t>Wait Until Next ms Multiple</a:t>
            </a:r>
          </a:p>
          <a:p>
            <a:pPr eaLnBrk="1" hangingPunct="1">
              <a:spcBef>
                <a:spcPct val="0"/>
              </a:spcBef>
            </a:pPr>
            <a:r>
              <a:rPr lang="en-US" altLang="ru-RU" sz="1100">
                <a:latin typeface="Times"/>
              </a:rPr>
              <a:t>Waits until the value of the millisecond timer becomes a multiple of the specified </a:t>
            </a:r>
            <a:r>
              <a:rPr lang="en-US" altLang="ru-RU" sz="1100" b="1">
                <a:latin typeface="Times"/>
              </a:rPr>
              <a:t>millisecond multiple</a:t>
            </a:r>
            <a:r>
              <a:rPr lang="en-US" altLang="ru-RU" sz="1100">
                <a:latin typeface="Times"/>
              </a:rPr>
              <a:t>. Use this function to synchronize activities. You can call this function in a loop to control the loop execution rate. However, it is possible that the first loop period might be short. This function makes asynchronous system calls, but the nodes themselves function synchronously. Therefore, it does not complete execution until the specified time has elapsed. </a:t>
            </a:r>
          </a:p>
          <a:p>
            <a:pPr eaLnBrk="1" hangingPunct="1">
              <a:spcBef>
                <a:spcPct val="0"/>
              </a:spcBef>
            </a:pPr>
            <a:r>
              <a:rPr lang="en-US" altLang="ru-RU" sz="1100" b="1">
                <a:latin typeface="Times"/>
              </a:rPr>
              <a:t>Functions»Programming»Timing»Wait Until Next ms Multiple</a:t>
            </a:r>
          </a:p>
          <a:p>
            <a:pPr eaLnBrk="1" hangingPunct="1"/>
            <a:endParaRPr lang="en-US" altLang="ru-RU" sz="1100" b="1">
              <a:latin typeface="Times"/>
            </a:endParaRPr>
          </a:p>
        </p:txBody>
      </p:sp>
      <p:sp>
        <p:nvSpPr>
          <p:cNvPr id="120839" name="Text Box 6"/>
          <p:cNvSpPr txBox="1">
            <a:spLocks noChangeArrowheads="1"/>
          </p:cNvSpPr>
          <p:nvPr/>
        </p:nvSpPr>
        <p:spPr bwMode="auto">
          <a:xfrm>
            <a:off x="0" y="8748713"/>
            <a:ext cx="6858000"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1030" tIns="50514" rIns="101030" bIns="50514" anchor="b">
            <a:spAutoFit/>
          </a:bodyPr>
          <a:lstStyle>
            <a:lvl1pPr defTabSz="768350" eaLnBrk="0" hangingPunct="0">
              <a:tabLst>
                <a:tab pos="227013" algn="l"/>
                <a:tab pos="3352800" algn="ctr"/>
                <a:tab pos="6435725" algn="r"/>
              </a:tabLst>
              <a:defRPr>
                <a:solidFill>
                  <a:schemeClr val="tx1"/>
                </a:solidFill>
                <a:latin typeface="Times New Roman" pitchFamily="18" charset="0"/>
              </a:defRPr>
            </a:lvl1pPr>
            <a:lvl2pPr marL="742950" indent="-285750" defTabSz="768350" eaLnBrk="0" hangingPunct="0">
              <a:tabLst>
                <a:tab pos="227013" algn="l"/>
                <a:tab pos="3352800" algn="ctr"/>
                <a:tab pos="6435725" algn="r"/>
              </a:tabLst>
              <a:defRPr>
                <a:solidFill>
                  <a:schemeClr val="tx1"/>
                </a:solidFill>
                <a:latin typeface="Times New Roman" pitchFamily="18" charset="0"/>
              </a:defRPr>
            </a:lvl2pPr>
            <a:lvl3pPr marL="1143000" indent="-228600" defTabSz="768350" eaLnBrk="0" hangingPunct="0">
              <a:tabLst>
                <a:tab pos="227013" algn="l"/>
                <a:tab pos="3352800" algn="ctr"/>
                <a:tab pos="6435725" algn="r"/>
              </a:tabLst>
              <a:defRPr>
                <a:solidFill>
                  <a:schemeClr val="tx1"/>
                </a:solidFill>
                <a:latin typeface="Times New Roman" pitchFamily="18" charset="0"/>
              </a:defRPr>
            </a:lvl3pPr>
            <a:lvl4pPr marL="1600200" indent="-228600" defTabSz="768350" eaLnBrk="0" hangingPunct="0">
              <a:tabLst>
                <a:tab pos="227013" algn="l"/>
                <a:tab pos="3352800" algn="ctr"/>
                <a:tab pos="6435725" algn="r"/>
              </a:tabLst>
              <a:defRPr>
                <a:solidFill>
                  <a:schemeClr val="tx1"/>
                </a:solidFill>
                <a:latin typeface="Times New Roman" pitchFamily="18" charset="0"/>
              </a:defRPr>
            </a:lvl4pPr>
            <a:lvl5pPr marL="2057400" indent="-228600" defTabSz="768350" eaLnBrk="0" hangingPunct="0">
              <a:tabLst>
                <a:tab pos="227013" algn="l"/>
                <a:tab pos="3352800" algn="ctr"/>
                <a:tab pos="6435725" algn="r"/>
              </a:tabLst>
              <a:defRPr>
                <a:solidFill>
                  <a:schemeClr val="tx1"/>
                </a:solidFill>
                <a:latin typeface="Times New Roman" pitchFamily="18" charset="0"/>
              </a:defRPr>
            </a:lvl5pPr>
            <a:lvl6pPr marL="25146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6pPr>
            <a:lvl7pPr marL="29718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7pPr>
            <a:lvl8pPr marL="34290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8pPr>
            <a:lvl9pPr marL="3886200" indent="-228600" defTabSz="768350" eaLnBrk="0" fontAlgn="base" hangingPunct="0">
              <a:spcBef>
                <a:spcPct val="0"/>
              </a:spcBef>
              <a:spcAft>
                <a:spcPct val="0"/>
              </a:spcAft>
              <a:tabLst>
                <a:tab pos="227013" algn="l"/>
                <a:tab pos="3352800" algn="ctr"/>
                <a:tab pos="6435725" algn="r"/>
              </a:tabLst>
              <a:defRPr>
                <a:solidFill>
                  <a:schemeClr val="tx1"/>
                </a:solidFill>
                <a:latin typeface="Times New Roman" pitchFamily="18" charset="0"/>
              </a:defRPr>
            </a:lvl9pPr>
          </a:lstStyle>
          <a:p>
            <a:pPr>
              <a:spcBef>
                <a:spcPct val="50000"/>
              </a:spcBef>
            </a:pPr>
            <a:r>
              <a:rPr lang="en-US" altLang="ru-RU" sz="1000"/>
              <a:t>	 </a:t>
            </a:r>
            <a:r>
              <a:rPr lang="en-US" altLang="ru-RU" sz="800" i="1"/>
              <a:t>Introduction to LabVIEW Hands-On 	58	ni.com</a:t>
            </a:r>
          </a:p>
        </p:txBody>
      </p:sp>
    </p:spTree>
    <p:extLst>
      <p:ext uri="{BB962C8B-B14F-4D97-AF65-F5344CB8AC3E}">
        <p14:creationId xmlns:p14="http://schemas.microsoft.com/office/powerpoint/2010/main" val="3094684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8FC3CC-DD11-00B0-F5BD-10E16BEAB262}"/>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BBEFD5A7-D6E8-FC29-7EEA-5FADA4887F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87B50C26-A970-224E-5D5F-682B3E7FEC36}"/>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5" name="Нижний колонтитул 4">
            <a:extLst>
              <a:ext uri="{FF2B5EF4-FFF2-40B4-BE49-F238E27FC236}">
                <a16:creationId xmlns:a16="http://schemas.microsoft.com/office/drawing/2014/main" id="{6EE4A0DF-649B-976A-7366-37683B1CC83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9771D82-F105-651C-2EAC-071A7F4E55CF}"/>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172906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273180-0F96-121F-EEAD-7FEC9174286A}"/>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FC11E29-3B5E-811E-0AA3-6DDD98E001A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3B07EF54-348D-8A17-86CC-8446928DE907}"/>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5" name="Нижний колонтитул 4">
            <a:extLst>
              <a:ext uri="{FF2B5EF4-FFF2-40B4-BE49-F238E27FC236}">
                <a16:creationId xmlns:a16="http://schemas.microsoft.com/office/drawing/2014/main" id="{520D0935-75F7-7896-D2B2-333EFCBCAC3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F16EA62-B554-808B-02D3-F8F1D4DB5BCA}"/>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4052546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AB55B6-1342-6F5A-ABC5-ADBFA5A209A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A018A3F9-1E92-1FE8-CFCE-6D998AD9A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909C69E-21BF-A7C6-0387-9197251D7A88}"/>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5" name="Нижний колонтитул 4">
            <a:extLst>
              <a:ext uri="{FF2B5EF4-FFF2-40B4-BE49-F238E27FC236}">
                <a16:creationId xmlns:a16="http://schemas.microsoft.com/office/drawing/2014/main" id="{B0180713-5954-3974-31A7-349A3761398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59D6D09-34B2-9D4C-5ED1-299998F78445}"/>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248915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A6B7F8-EA4E-4CD1-4F89-734BB8EB6C8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2EEAAFE9-A1B2-85C8-BB3D-2F308C212356}"/>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3E97BF4B-0211-6F32-E638-8AD4D3237741}"/>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C4173F8E-E7BB-FC5D-5378-69111753235D}"/>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6" name="Нижний колонтитул 5">
            <a:extLst>
              <a:ext uri="{FF2B5EF4-FFF2-40B4-BE49-F238E27FC236}">
                <a16:creationId xmlns:a16="http://schemas.microsoft.com/office/drawing/2014/main" id="{1E31826E-87BA-2A51-6B99-FECC98CE4C6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E26A07A-FE35-D389-3814-2CBC13DB958B}"/>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1877234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80BAF9-FF53-5090-36B2-1C3C2F6A3CAF}"/>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E1F8C7F-BBE4-404B-682A-11E0EA2C4F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552F6C2-E61E-D0D4-65DF-69B6DB9C37F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EF197F2-5B01-D7BD-4322-A89F436BF5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553F0E4-7044-5C60-D4A9-8017E5062DD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6DDC1D2-A48C-9AF1-A1E6-D45E002DBEDC}"/>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8" name="Нижний колонтитул 7">
            <a:extLst>
              <a:ext uri="{FF2B5EF4-FFF2-40B4-BE49-F238E27FC236}">
                <a16:creationId xmlns:a16="http://schemas.microsoft.com/office/drawing/2014/main" id="{CEFDCA0A-A195-7ABF-121F-F33791342A9E}"/>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4F3D4722-4373-BF42-85E9-824AD8935DE5}"/>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2749337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5B1662-CDA8-01FB-AD7C-14B2FECFE7B3}"/>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A64CEBCD-D44A-A558-9E27-A11B07AE93E9}"/>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4" name="Нижний колонтитул 3">
            <a:extLst>
              <a:ext uri="{FF2B5EF4-FFF2-40B4-BE49-F238E27FC236}">
                <a16:creationId xmlns:a16="http://schemas.microsoft.com/office/drawing/2014/main" id="{E4185CA9-E5DB-B8D1-2871-88730CBCD048}"/>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A5BEAA2A-15FC-4DBA-8CB9-5A7442CA515E}"/>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162198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81F465C-0463-7AF0-4CD8-9E8632888B69}"/>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3" name="Нижний колонтитул 2">
            <a:extLst>
              <a:ext uri="{FF2B5EF4-FFF2-40B4-BE49-F238E27FC236}">
                <a16:creationId xmlns:a16="http://schemas.microsoft.com/office/drawing/2014/main" id="{545051A9-A927-640E-FC71-86FBEB88923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F86960AA-AB9F-E6AF-AB87-4DFBCAEC8A98}"/>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986044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E7F41E-18EF-40E2-12E1-7349908B4EE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6C930893-4F02-0B8D-4550-D91AC3AA9C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52229D48-808C-EE37-5575-8B5F85AB0B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84E0BA1-4EE5-A614-3A80-1A6837AA9879}"/>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6" name="Нижний колонтитул 5">
            <a:extLst>
              <a:ext uri="{FF2B5EF4-FFF2-40B4-BE49-F238E27FC236}">
                <a16:creationId xmlns:a16="http://schemas.microsoft.com/office/drawing/2014/main" id="{50F098ED-6BF2-1FC6-F192-A1F21A927B7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BC91074-C515-03F6-72F3-CFD55987F4A5}"/>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287411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BECD2B-4574-59C8-A0EB-6806AE62BBD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125669CA-2226-AFA3-F28B-193CD06AD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05A43AB-0DCD-9561-05E9-BD2374439F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1E6ADC0C-3A4D-6194-C27B-5CB33379869A}"/>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6" name="Нижний колонтитул 5">
            <a:extLst>
              <a:ext uri="{FF2B5EF4-FFF2-40B4-BE49-F238E27FC236}">
                <a16:creationId xmlns:a16="http://schemas.microsoft.com/office/drawing/2014/main" id="{97BBE650-4525-2718-B564-A58F1CB70968}"/>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FB276BD-EC0A-5790-53AE-30DBBD3E0670}"/>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3847006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72C287-1327-1225-37D9-392D3D9F32AE}"/>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53547ACC-4955-0D46-6404-2D609F63160B}"/>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FDBF6A6-7AD3-08C9-3FCE-98C6CA5E3CC0}"/>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5" name="Нижний колонтитул 4">
            <a:extLst>
              <a:ext uri="{FF2B5EF4-FFF2-40B4-BE49-F238E27FC236}">
                <a16:creationId xmlns:a16="http://schemas.microsoft.com/office/drawing/2014/main" id="{84819F17-3FA7-FB94-0980-673CE6856CA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7DFF7F6-C4CA-B119-C702-CEA1CD5AF81F}"/>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268355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92EDB3E-4D96-4740-32DD-01E0C27DC869}"/>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EFC7BB2-6F43-B074-28A8-8C5770E8751C}"/>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F5B36FC-20FA-7D1E-7B6D-BCB9B746BC75}"/>
              </a:ext>
            </a:extLst>
          </p:cNvPr>
          <p:cNvSpPr>
            <a:spLocks noGrp="1"/>
          </p:cNvSpPr>
          <p:nvPr>
            <p:ph type="dt" sz="half" idx="10"/>
          </p:nvPr>
        </p:nvSpPr>
        <p:spPr/>
        <p:txBody>
          <a:bodyPr/>
          <a:lstStyle/>
          <a:p>
            <a:fld id="{EF78466A-2053-4F9D-BFAD-D24631940D09}" type="datetimeFigureOut">
              <a:rPr lang="ru-RU" smtClean="0"/>
              <a:t>28.10.2024</a:t>
            </a:fld>
            <a:endParaRPr lang="ru-RU"/>
          </a:p>
        </p:txBody>
      </p:sp>
      <p:sp>
        <p:nvSpPr>
          <p:cNvPr id="5" name="Нижний колонтитул 4">
            <a:extLst>
              <a:ext uri="{FF2B5EF4-FFF2-40B4-BE49-F238E27FC236}">
                <a16:creationId xmlns:a16="http://schemas.microsoft.com/office/drawing/2014/main" id="{A930D81E-2968-69F9-A91B-0BD40056E95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17900FC4-6AA2-3FF9-EF5C-DB514FCAD004}"/>
              </a:ext>
            </a:extLst>
          </p:cNvPr>
          <p:cNvSpPr>
            <a:spLocks noGrp="1"/>
          </p:cNvSpPr>
          <p:nvPr>
            <p:ph type="sldNum" sz="quarter" idx="12"/>
          </p:nvPr>
        </p:nvSpPr>
        <p:spPr/>
        <p:txBody>
          <a:bodyPr/>
          <a:lstStyle/>
          <a:p>
            <a:fld id="{F5707F37-D97C-4A29-A33C-B1C39E938EAE}" type="slidenum">
              <a:rPr lang="ru-RU" smtClean="0"/>
              <a:t>‹#›</a:t>
            </a:fld>
            <a:endParaRPr lang="ru-RU"/>
          </a:p>
        </p:txBody>
      </p:sp>
    </p:spTree>
    <p:extLst>
      <p:ext uri="{BB962C8B-B14F-4D97-AF65-F5344CB8AC3E}">
        <p14:creationId xmlns:p14="http://schemas.microsoft.com/office/powerpoint/2010/main" val="1338574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Заголовок, текст и 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p:spPr>
        <p:txBody>
          <a:bodyPr/>
          <a:lstStyle/>
          <a:p>
            <a:r>
              <a:rPr lang="ru-RU"/>
              <a:t>Образец заголовка</a:t>
            </a:r>
          </a:p>
        </p:txBody>
      </p:sp>
      <p:sp>
        <p:nvSpPr>
          <p:cNvPr id="3" name="Текст 2"/>
          <p:cNvSpPr>
            <a:spLocks noGrp="1"/>
          </p:cNvSpPr>
          <p:nvPr>
            <p:ph type="body" sz="half" idx="1"/>
          </p:nvPr>
        </p:nvSpPr>
        <p:spPr>
          <a:xfrm>
            <a:off x="609600" y="1600201"/>
            <a:ext cx="5384800" cy="452596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quarter" idx="2"/>
          </p:nvPr>
        </p:nvSpPr>
        <p:spPr>
          <a:xfrm>
            <a:off x="6197600" y="1600200"/>
            <a:ext cx="5384800" cy="21859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Объект 4"/>
          <p:cNvSpPr>
            <a:spLocks noGrp="1"/>
          </p:cNvSpPr>
          <p:nvPr>
            <p:ph sz="quarter" idx="3"/>
          </p:nvPr>
        </p:nvSpPr>
        <p:spPr>
          <a:xfrm>
            <a:off x="6197600" y="3938589"/>
            <a:ext cx="5384800" cy="21875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Rectangle 4"/>
          <p:cNvSpPr>
            <a:spLocks noGrp="1" noChangeArrowheads="1"/>
          </p:cNvSpPr>
          <p:nvPr>
            <p:ph type="dt" sz="half" idx="10"/>
          </p:nvPr>
        </p:nvSpPr>
        <p:spPr>
          <a:ln/>
        </p:spPr>
        <p:txBody>
          <a:bodyPr/>
          <a:lstStyle>
            <a:lvl1pPr>
              <a:defRPr/>
            </a:lvl1pPr>
          </a:lstStyle>
          <a:p>
            <a:pPr>
              <a:defRPr/>
            </a:pPr>
            <a:endParaRPr lang="ru-RU" altLang="ru-RU"/>
          </a:p>
        </p:txBody>
      </p:sp>
      <p:sp>
        <p:nvSpPr>
          <p:cNvPr id="7" name="Rectangle 5"/>
          <p:cNvSpPr>
            <a:spLocks noGrp="1" noChangeArrowheads="1"/>
          </p:cNvSpPr>
          <p:nvPr>
            <p:ph type="ftr" sz="quarter" idx="11"/>
          </p:nvPr>
        </p:nvSpPr>
        <p:spPr>
          <a:ln/>
        </p:spPr>
        <p:txBody>
          <a:bodyPr/>
          <a:lstStyle>
            <a:lvl1pPr>
              <a:defRPr/>
            </a:lvl1pPr>
          </a:lstStyle>
          <a:p>
            <a:pPr>
              <a:defRPr/>
            </a:pPr>
            <a:endParaRPr lang="ru-RU" altLang="ru-RU"/>
          </a:p>
        </p:txBody>
      </p:sp>
      <p:sp>
        <p:nvSpPr>
          <p:cNvPr id="8" name="Rectangle 6"/>
          <p:cNvSpPr>
            <a:spLocks noGrp="1" noChangeArrowheads="1"/>
          </p:cNvSpPr>
          <p:nvPr>
            <p:ph type="sldNum" sz="quarter" idx="12"/>
          </p:nvPr>
        </p:nvSpPr>
        <p:spPr>
          <a:ln/>
        </p:spPr>
        <p:txBody>
          <a:bodyPr/>
          <a:lstStyle>
            <a:lvl1pPr>
              <a:defRPr/>
            </a:lvl1pPr>
          </a:lstStyle>
          <a:p>
            <a:pPr>
              <a:defRPr/>
            </a:pPr>
            <a:fld id="{AB96ADEC-A59A-4F33-9966-E583436FC072}" type="slidenum">
              <a:rPr lang="ru-RU" altLang="ru-RU"/>
              <a:pPr>
                <a:defRPr/>
              </a:pPr>
              <a:t>‹#›</a:t>
            </a:fld>
            <a:endParaRPr lang="ru-RU" altLang="ru-RU"/>
          </a:p>
        </p:txBody>
      </p:sp>
    </p:spTree>
    <p:extLst>
      <p:ext uri="{BB962C8B-B14F-4D97-AF65-F5344CB8AC3E}">
        <p14:creationId xmlns:p14="http://schemas.microsoft.com/office/powerpoint/2010/main" val="3935914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C893B7-7B19-D923-B772-EBA4C2080E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164DB238-46A0-98F1-049B-B1C1C8507F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B8E1E00-5DEA-A9CC-0060-886F51ADE3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78466A-2053-4F9D-BFAD-D24631940D09}" type="datetimeFigureOut">
              <a:rPr lang="ru-RU" smtClean="0"/>
              <a:t>28.10.2024</a:t>
            </a:fld>
            <a:endParaRPr lang="ru-RU"/>
          </a:p>
        </p:txBody>
      </p:sp>
      <p:sp>
        <p:nvSpPr>
          <p:cNvPr id="5" name="Нижний колонтитул 4">
            <a:extLst>
              <a:ext uri="{FF2B5EF4-FFF2-40B4-BE49-F238E27FC236}">
                <a16:creationId xmlns:a16="http://schemas.microsoft.com/office/drawing/2014/main" id="{40AC5384-1F84-E748-D655-798E71CED6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B7E77CA0-5098-37CC-A5E8-ECC77449D6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707F37-D97C-4A29-A33C-B1C39E938EAE}" type="slidenum">
              <a:rPr lang="ru-RU" smtClean="0"/>
              <a:t>‹#›</a:t>
            </a:fld>
            <a:endParaRPr lang="ru-RU"/>
          </a:p>
        </p:txBody>
      </p:sp>
    </p:spTree>
    <p:extLst>
      <p:ext uri="{BB962C8B-B14F-4D97-AF65-F5344CB8AC3E}">
        <p14:creationId xmlns:p14="http://schemas.microsoft.com/office/powerpoint/2010/main" val="663395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11136E-5738-EC1F-82A7-7C56E4D75CE0}"/>
              </a:ext>
            </a:extLst>
          </p:cNvPr>
          <p:cNvSpPr>
            <a:spLocks noGrp="1"/>
          </p:cNvSpPr>
          <p:nvPr>
            <p:ph type="ctrTitle"/>
          </p:nvPr>
        </p:nvSpPr>
        <p:spPr>
          <a:xfrm>
            <a:off x="1618268" y="2093324"/>
            <a:ext cx="9144000" cy="1655762"/>
          </a:xfrm>
        </p:spPr>
        <p:txBody>
          <a:bodyPr>
            <a:normAutofit fontScale="90000"/>
          </a:bodyPr>
          <a:lstStyle/>
          <a:p>
            <a:r>
              <a:rPr lang="en-US" dirty="0" err="1"/>
              <a:t>Labview</a:t>
            </a:r>
            <a:r>
              <a:rPr lang="en-US" dirty="0"/>
              <a:t> </a:t>
            </a:r>
            <a:r>
              <a:rPr lang="en-US" dirty="0" err="1"/>
              <a:t>dasturida</a:t>
            </a:r>
            <a:r>
              <a:rPr lang="en-US" dirty="0"/>
              <a:t> </a:t>
            </a:r>
            <a:r>
              <a:rPr lang="en-US" dirty="0" err="1"/>
              <a:t>tarmoqlanish</a:t>
            </a:r>
            <a:r>
              <a:rPr lang="en-US" dirty="0"/>
              <a:t> </a:t>
            </a:r>
            <a:r>
              <a:rPr lang="en-US" dirty="0" err="1"/>
              <a:t>jarayoni</a:t>
            </a:r>
            <a:r>
              <a:rPr lang="en-US" dirty="0"/>
              <a:t>. Case </a:t>
            </a:r>
            <a:r>
              <a:rPr lang="en-US" dirty="0" err="1"/>
              <a:t>strukturasi</a:t>
            </a:r>
            <a:endParaRPr lang="ru-RU" dirty="0"/>
          </a:p>
        </p:txBody>
      </p:sp>
    </p:spTree>
    <p:extLst>
      <p:ext uri="{BB962C8B-B14F-4D97-AF65-F5344CB8AC3E}">
        <p14:creationId xmlns:p14="http://schemas.microsoft.com/office/powerpoint/2010/main" val="2270922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E80BB6-785D-8C53-7164-293B4DB322C3}"/>
              </a:ext>
            </a:extLst>
          </p:cNvPr>
          <p:cNvSpPr>
            <a:spLocks noGrp="1"/>
          </p:cNvSpPr>
          <p:nvPr>
            <p:ph type="title"/>
          </p:nvPr>
        </p:nvSpPr>
        <p:spPr>
          <a:xfrm>
            <a:off x="838200" y="112908"/>
            <a:ext cx="10515600" cy="568129"/>
          </a:xfrm>
        </p:spPr>
        <p:txBody>
          <a:bodyPr>
            <a:normAutofit fontScale="90000"/>
          </a:bodyPr>
          <a:lstStyle/>
          <a:p>
            <a:pPr algn="ctr"/>
            <a:r>
              <a:rPr lang="en-US" dirty="0" err="1"/>
              <a:t>Reja</a:t>
            </a:r>
            <a:endParaRPr lang="ru-RU" dirty="0"/>
          </a:p>
        </p:txBody>
      </p:sp>
      <p:sp>
        <p:nvSpPr>
          <p:cNvPr id="3" name="Объект 2">
            <a:extLst>
              <a:ext uri="{FF2B5EF4-FFF2-40B4-BE49-F238E27FC236}">
                <a16:creationId xmlns:a16="http://schemas.microsoft.com/office/drawing/2014/main" id="{E6D976E3-C8C9-40FA-265D-5EEA671CC4A1}"/>
              </a:ext>
            </a:extLst>
          </p:cNvPr>
          <p:cNvSpPr>
            <a:spLocks noGrp="1"/>
          </p:cNvSpPr>
          <p:nvPr>
            <p:ph idx="1"/>
          </p:nvPr>
        </p:nvSpPr>
        <p:spPr>
          <a:xfrm>
            <a:off x="838200" y="1036948"/>
            <a:ext cx="10515600" cy="5140015"/>
          </a:xfrm>
        </p:spPr>
        <p:txBody>
          <a:bodyPr/>
          <a:lstStyle/>
          <a:p>
            <a:r>
              <a:rPr lang="en-US" dirty="0"/>
              <a:t>1. </a:t>
            </a:r>
            <a:r>
              <a:rPr lang="en-US" dirty="0" err="1"/>
              <a:t>Sonni</a:t>
            </a:r>
            <a:r>
              <a:rPr lang="en-US" dirty="0"/>
              <a:t> </a:t>
            </a:r>
            <a:r>
              <a:rPr lang="en-US" dirty="0" err="1"/>
              <a:t>kvadrat</a:t>
            </a:r>
            <a:r>
              <a:rPr lang="en-US" dirty="0"/>
              <a:t> </a:t>
            </a:r>
            <a:r>
              <a:rPr lang="en-US" dirty="0" err="1"/>
              <a:t>ildizdan</a:t>
            </a:r>
            <a:r>
              <a:rPr lang="en-US" dirty="0"/>
              <a:t> </a:t>
            </a:r>
            <a:r>
              <a:rPr lang="en-US" dirty="0" err="1"/>
              <a:t>chiqarish</a:t>
            </a:r>
            <a:r>
              <a:rPr lang="en-US" dirty="0"/>
              <a:t>.</a:t>
            </a:r>
          </a:p>
          <a:p>
            <a:r>
              <a:rPr lang="en-US" dirty="0"/>
              <a:t>2. </a:t>
            </a:r>
            <a:r>
              <a:rPr lang="en-US" dirty="0" err="1"/>
              <a:t>Kalkulyator</a:t>
            </a:r>
            <a:r>
              <a:rPr lang="en-US" dirty="0"/>
              <a:t> </a:t>
            </a:r>
            <a:r>
              <a:rPr lang="en-US" dirty="0" err="1"/>
              <a:t>yaratish</a:t>
            </a:r>
            <a:r>
              <a:rPr lang="en-US" dirty="0"/>
              <a:t>.</a:t>
            </a:r>
          </a:p>
          <a:p>
            <a:r>
              <a:rPr lang="en-US" dirty="0"/>
              <a:t>3. </a:t>
            </a:r>
            <a:r>
              <a:rPr lang="en-US" dirty="0" err="1"/>
              <a:t>Grafik</a:t>
            </a:r>
            <a:r>
              <a:rPr lang="en-US" dirty="0"/>
              <a:t> </a:t>
            </a:r>
            <a:r>
              <a:rPr lang="en-US" dirty="0" err="1"/>
              <a:t>qurish</a:t>
            </a:r>
            <a:r>
              <a:rPr lang="en-US" dirty="0"/>
              <a:t>.</a:t>
            </a:r>
            <a:endParaRPr lang="ru-RU" dirty="0"/>
          </a:p>
        </p:txBody>
      </p:sp>
    </p:spTree>
    <p:extLst>
      <p:ext uri="{BB962C8B-B14F-4D97-AF65-F5344CB8AC3E}">
        <p14:creationId xmlns:p14="http://schemas.microsoft.com/office/powerpoint/2010/main" val="637700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981200" y="274639"/>
            <a:ext cx="8229600" cy="504825"/>
          </a:xfrm>
        </p:spPr>
        <p:txBody>
          <a:bodyPr>
            <a:normAutofit fontScale="90000"/>
          </a:bodyPr>
          <a:lstStyle/>
          <a:p>
            <a:pPr eaLnBrk="1" hangingPunct="1"/>
            <a:r>
              <a:rPr lang="en-US" altLang="ru-RU" sz="4000" dirty="0" err="1"/>
              <a:t>Tsiklni</a:t>
            </a:r>
            <a:r>
              <a:rPr lang="en-US" altLang="ru-RU" sz="4000" dirty="0"/>
              <a:t> </a:t>
            </a:r>
            <a:r>
              <a:rPr lang="en-US" altLang="ru-RU" sz="4000" dirty="0" err="1"/>
              <a:t>bajarilishini</a:t>
            </a:r>
            <a:r>
              <a:rPr lang="en-US" altLang="ru-RU" sz="4000" dirty="0"/>
              <a:t> </a:t>
            </a:r>
            <a:r>
              <a:rPr lang="en-US" altLang="ru-RU" sz="4000" dirty="0" err="1"/>
              <a:t>vaqt</a:t>
            </a:r>
            <a:r>
              <a:rPr lang="en-US" altLang="ru-RU" sz="4000" dirty="0"/>
              <a:t> </a:t>
            </a:r>
            <a:r>
              <a:rPr lang="en-US" altLang="ru-RU" sz="4000" dirty="0" err="1"/>
              <a:t>bilan</a:t>
            </a:r>
            <a:r>
              <a:rPr lang="en-US" altLang="ru-RU" sz="4000" dirty="0"/>
              <a:t> </a:t>
            </a:r>
            <a:r>
              <a:rPr lang="en-US" altLang="ru-RU" sz="4000" dirty="0" err="1"/>
              <a:t>boshqarish</a:t>
            </a:r>
            <a:endParaRPr lang="en-US" altLang="ru-RU" sz="4000" u="sng" dirty="0"/>
          </a:p>
        </p:txBody>
      </p:sp>
      <p:sp>
        <p:nvSpPr>
          <p:cNvPr id="50179" name="Rectangle 3"/>
          <p:cNvSpPr>
            <a:spLocks noGrp="1" noChangeArrowheads="1"/>
          </p:cNvSpPr>
          <p:nvPr>
            <p:ph type="body" sz="half" idx="1"/>
          </p:nvPr>
        </p:nvSpPr>
        <p:spPr>
          <a:xfrm>
            <a:off x="1905000" y="1009651"/>
            <a:ext cx="8415338" cy="2265363"/>
          </a:xfrm>
        </p:spPr>
        <p:txBody>
          <a:bodyPr/>
          <a:lstStyle/>
          <a:p>
            <a:pPr>
              <a:buNone/>
            </a:pPr>
            <a:r>
              <a:rPr lang="en-US" altLang="ru-RU" sz="2400" dirty="0"/>
              <a:t>1. </a:t>
            </a:r>
            <a:r>
              <a:rPr lang="en-US" altLang="ru-RU" sz="2400" dirty="0" err="1"/>
              <a:t>Vaqtni</a:t>
            </a:r>
            <a:r>
              <a:rPr lang="en-US" altLang="ru-RU" sz="2400" dirty="0"/>
              <a:t> </a:t>
            </a:r>
            <a:r>
              <a:rPr lang="en-US" altLang="ru-RU" sz="2400" dirty="0" err="1"/>
              <a:t>ushlab</a:t>
            </a:r>
            <a:r>
              <a:rPr lang="en-US" altLang="ru-RU" sz="2400" dirty="0"/>
              <a:t> </a:t>
            </a:r>
            <a:r>
              <a:rPr lang="en-US" altLang="ru-RU" sz="2400" dirty="0" err="1"/>
              <a:t>turishni</a:t>
            </a:r>
            <a:r>
              <a:rPr lang="en-US" altLang="ru-RU" sz="2400" dirty="0"/>
              <a:t>, </a:t>
            </a:r>
            <a:r>
              <a:rPr lang="en-US" altLang="ru-RU" sz="2400" dirty="0" err="1"/>
              <a:t>yani</a:t>
            </a:r>
            <a:r>
              <a:rPr lang="en-US" altLang="ru-RU" sz="2400" dirty="0"/>
              <a:t> </a:t>
            </a:r>
            <a:r>
              <a:rPr lang="en-US" altLang="ru-RU" sz="2400" dirty="0" err="1"/>
              <a:t>kutishni</a:t>
            </a:r>
            <a:r>
              <a:rPr lang="en-US" altLang="ru-RU" sz="2400" dirty="0"/>
              <a:t> </a:t>
            </a:r>
            <a:r>
              <a:rPr lang="en-US" altLang="ru-RU" sz="2400" dirty="0" err="1"/>
              <a:t>amalga</a:t>
            </a:r>
            <a:r>
              <a:rPr lang="en-US" altLang="ru-RU" sz="2400" dirty="0"/>
              <a:t> </a:t>
            </a:r>
            <a:r>
              <a:rPr lang="en-US" altLang="ru-RU" sz="2400" dirty="0" err="1"/>
              <a:t>oshirish</a:t>
            </a:r>
            <a:endParaRPr lang="en-US" altLang="ru-RU" sz="2400" dirty="0"/>
          </a:p>
          <a:p>
            <a:pPr>
              <a:buNone/>
            </a:pPr>
            <a:endParaRPr lang="en-US" altLang="ru-RU" sz="2000" dirty="0"/>
          </a:p>
        </p:txBody>
      </p:sp>
      <p:sp>
        <p:nvSpPr>
          <p:cNvPr id="50182" name="Rectangle 6"/>
          <p:cNvSpPr>
            <a:spLocks noChangeArrowheads="1"/>
          </p:cNvSpPr>
          <p:nvPr/>
        </p:nvSpPr>
        <p:spPr bwMode="auto">
          <a:xfrm>
            <a:off x="6827839" y="5541964"/>
            <a:ext cx="19907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ru-RU" altLang="ru-RU" sz="2000"/>
              <a:t>Временной цикл</a:t>
            </a:r>
            <a:endParaRPr lang="en-US" altLang="ru-RU" sz="2000"/>
          </a:p>
        </p:txBody>
      </p:sp>
      <p:sp>
        <p:nvSpPr>
          <p:cNvPr id="50183" name="Rectangle 7"/>
          <p:cNvSpPr>
            <a:spLocks noChangeArrowheads="1"/>
          </p:cNvSpPr>
          <p:nvPr/>
        </p:nvSpPr>
        <p:spPr bwMode="auto">
          <a:xfrm>
            <a:off x="2400301" y="5541964"/>
            <a:ext cx="21748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algn="ctr"/>
            <a:r>
              <a:rPr lang="ru-RU" altLang="ru-RU" sz="2000"/>
              <a:t>Задержка времени</a:t>
            </a:r>
            <a:endParaRPr lang="en-US" altLang="ru-RU" sz="2000"/>
          </a:p>
        </p:txBody>
      </p:sp>
      <p:pic>
        <p:nvPicPr>
          <p:cNvPr id="3" name="Рисунок 2">
            <a:extLst>
              <a:ext uri="{FF2B5EF4-FFF2-40B4-BE49-F238E27FC236}">
                <a16:creationId xmlns:a16="http://schemas.microsoft.com/office/drawing/2014/main" id="{64029CFD-A292-ED5D-D284-F40F979076C4}"/>
              </a:ext>
            </a:extLst>
          </p:cNvPr>
          <p:cNvPicPr>
            <a:picLocks noChangeAspect="1"/>
          </p:cNvPicPr>
          <p:nvPr/>
        </p:nvPicPr>
        <p:blipFill>
          <a:blip r:embed="rId3"/>
          <a:stretch>
            <a:fillRect/>
          </a:stretch>
        </p:blipFill>
        <p:spPr>
          <a:xfrm>
            <a:off x="642879" y="2142332"/>
            <a:ext cx="4721283" cy="4375660"/>
          </a:xfrm>
          <a:prstGeom prst="rect">
            <a:avLst/>
          </a:prstGeom>
        </p:spPr>
      </p:pic>
      <p:pic>
        <p:nvPicPr>
          <p:cNvPr id="5" name="Рисунок 4">
            <a:extLst>
              <a:ext uri="{FF2B5EF4-FFF2-40B4-BE49-F238E27FC236}">
                <a16:creationId xmlns:a16="http://schemas.microsoft.com/office/drawing/2014/main" id="{9AB971A0-8344-C9ED-7D21-BC2AD36E7256}"/>
              </a:ext>
            </a:extLst>
          </p:cNvPr>
          <p:cNvPicPr>
            <a:picLocks noChangeAspect="1"/>
          </p:cNvPicPr>
          <p:nvPr/>
        </p:nvPicPr>
        <p:blipFill>
          <a:blip r:embed="rId4"/>
          <a:stretch>
            <a:fillRect/>
          </a:stretch>
        </p:blipFill>
        <p:spPr>
          <a:xfrm>
            <a:off x="5917541" y="2215298"/>
            <a:ext cx="4721283" cy="43026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3C80A6-6053-DD98-FF77-51B235D67083}"/>
              </a:ext>
            </a:extLst>
          </p:cNvPr>
          <p:cNvSpPr>
            <a:spLocks noGrp="1"/>
          </p:cNvSpPr>
          <p:nvPr>
            <p:ph type="title"/>
          </p:nvPr>
        </p:nvSpPr>
        <p:spPr>
          <a:xfrm>
            <a:off x="1341949" y="136689"/>
            <a:ext cx="10515600" cy="630173"/>
          </a:xfrm>
        </p:spPr>
        <p:txBody>
          <a:bodyPr>
            <a:normAutofit fontScale="90000"/>
          </a:bodyPr>
          <a:lstStyle/>
          <a:p>
            <a:pPr algn="ctr"/>
            <a:r>
              <a:rPr lang="en-US" dirty="0" err="1"/>
              <a:t>Varianta</a:t>
            </a:r>
            <a:r>
              <a:rPr lang="en-US" dirty="0"/>
              <a:t> </a:t>
            </a:r>
            <a:r>
              <a:rPr lang="en-US" dirty="0" err="1"/>
              <a:t>strukturasi</a:t>
            </a:r>
            <a:r>
              <a:rPr lang="en-US" dirty="0"/>
              <a:t> (Case </a:t>
            </a:r>
            <a:r>
              <a:rPr lang="en-US" dirty="0" err="1"/>
              <a:t>strukture</a:t>
            </a:r>
            <a:r>
              <a:rPr lang="en-US" dirty="0"/>
              <a:t>)</a:t>
            </a:r>
            <a:endParaRPr lang="ru-RU" dirty="0"/>
          </a:p>
        </p:txBody>
      </p:sp>
      <p:sp>
        <p:nvSpPr>
          <p:cNvPr id="7" name="Объект 6">
            <a:extLst>
              <a:ext uri="{FF2B5EF4-FFF2-40B4-BE49-F238E27FC236}">
                <a16:creationId xmlns:a16="http://schemas.microsoft.com/office/drawing/2014/main" id="{615779D2-7B8B-D52F-301F-27F6A8109075}"/>
              </a:ext>
            </a:extLst>
          </p:cNvPr>
          <p:cNvSpPr>
            <a:spLocks noGrp="1"/>
          </p:cNvSpPr>
          <p:nvPr>
            <p:ph sz="half" idx="1"/>
          </p:nvPr>
        </p:nvSpPr>
        <p:spPr>
          <a:xfrm>
            <a:off x="358218" y="848412"/>
            <a:ext cx="6278251" cy="5872899"/>
          </a:xfrm>
        </p:spPr>
        <p:txBody>
          <a:bodyPr>
            <a:normAutofit fontScale="92500" lnSpcReduction="20000"/>
          </a:bodyPr>
          <a:lstStyle/>
          <a:p>
            <a:pPr algn="just"/>
            <a:r>
              <a:rPr lang="en-US" dirty="0"/>
              <a:t>Case </a:t>
            </a:r>
            <a:r>
              <a:rPr lang="en-US" dirty="0" err="1"/>
              <a:t>strukturasi</a:t>
            </a:r>
            <a:r>
              <a:rPr lang="en-US" dirty="0"/>
              <a:t> </a:t>
            </a:r>
            <a:r>
              <a:rPr lang="en-US" dirty="0" err="1"/>
              <a:t>shartli</a:t>
            </a:r>
            <a:r>
              <a:rPr lang="en-US" dirty="0"/>
              <a:t> operator </a:t>
            </a:r>
            <a:r>
              <a:rPr lang="en-US" dirty="0" err="1"/>
              <a:t>vazifasini</a:t>
            </a:r>
            <a:r>
              <a:rPr lang="en-US" dirty="0"/>
              <a:t> </a:t>
            </a:r>
            <a:r>
              <a:rPr lang="en-US" dirty="0" err="1"/>
              <a:t>bajaradi</a:t>
            </a:r>
            <a:r>
              <a:rPr lang="en-US" dirty="0"/>
              <a:t>. True </a:t>
            </a:r>
            <a:r>
              <a:rPr lang="en-US" dirty="0" err="1"/>
              <a:t>va</a:t>
            </a:r>
            <a:r>
              <a:rPr lang="en-US" dirty="0"/>
              <a:t> False </a:t>
            </a:r>
            <a:r>
              <a:rPr lang="en-US" dirty="0" err="1"/>
              <a:t>shartlari</a:t>
            </a:r>
            <a:r>
              <a:rPr lang="en-US" dirty="0"/>
              <a:t> </a:t>
            </a:r>
            <a:r>
              <a:rPr lang="en-US" dirty="0" err="1"/>
              <a:t>asosida</a:t>
            </a:r>
            <a:r>
              <a:rPr lang="en-US" dirty="0"/>
              <a:t> </a:t>
            </a:r>
            <a:r>
              <a:rPr lang="en-US" dirty="0" err="1"/>
              <a:t>ishlaydi</a:t>
            </a:r>
            <a:r>
              <a:rPr lang="en-US" dirty="0"/>
              <a:t>.</a:t>
            </a:r>
          </a:p>
          <a:p>
            <a:pPr marL="0" indent="0" algn="just">
              <a:buNone/>
            </a:pPr>
            <a:r>
              <a:rPr lang="en-US" dirty="0"/>
              <a:t>    True </a:t>
            </a:r>
            <a:r>
              <a:rPr lang="en-US" dirty="0" err="1"/>
              <a:t>bo‘lganda</a:t>
            </a:r>
            <a:r>
              <a:rPr lang="en-US" dirty="0"/>
              <a:t>: </a:t>
            </a:r>
            <a:r>
              <a:rPr lang="en-US" dirty="0" err="1"/>
              <a:t>bir</a:t>
            </a:r>
            <a:r>
              <a:rPr lang="en-US" dirty="0"/>
              <a:t> </a:t>
            </a:r>
            <a:r>
              <a:rPr lang="en-US" dirty="0" err="1"/>
              <a:t>amal</a:t>
            </a:r>
            <a:r>
              <a:rPr lang="en-US" dirty="0"/>
              <a:t> </a:t>
            </a:r>
            <a:r>
              <a:rPr lang="en-US" dirty="0" err="1"/>
              <a:t>bajariladi</a:t>
            </a:r>
            <a:r>
              <a:rPr lang="en-US" dirty="0"/>
              <a:t>;</a:t>
            </a:r>
          </a:p>
          <a:p>
            <a:pPr marL="0" indent="0" algn="just">
              <a:buNone/>
            </a:pPr>
            <a:r>
              <a:rPr lang="en-US" dirty="0"/>
              <a:t>    False </a:t>
            </a:r>
            <a:r>
              <a:rPr lang="en-US" dirty="0" err="1"/>
              <a:t>bo‘lganda</a:t>
            </a:r>
            <a:r>
              <a:rPr lang="en-US" dirty="0"/>
              <a:t>: </a:t>
            </a:r>
            <a:r>
              <a:rPr lang="en-US" dirty="0" err="1"/>
              <a:t>ikkinchi</a:t>
            </a:r>
            <a:r>
              <a:rPr lang="en-US" dirty="0"/>
              <a:t> </a:t>
            </a:r>
            <a:r>
              <a:rPr lang="en-US" dirty="0" err="1"/>
              <a:t>amal</a:t>
            </a:r>
            <a:r>
              <a:rPr lang="en-US" dirty="0"/>
              <a:t> </a:t>
            </a:r>
            <a:r>
              <a:rPr lang="en-US" dirty="0" err="1"/>
              <a:t>bajariladi</a:t>
            </a:r>
            <a:r>
              <a:rPr lang="en-US" dirty="0"/>
              <a:t>.</a:t>
            </a:r>
          </a:p>
          <a:p>
            <a:pPr algn="just"/>
            <a:r>
              <a:rPr lang="en-US" u="sng" dirty="0"/>
              <a:t>Case </a:t>
            </a:r>
            <a:r>
              <a:rPr lang="en-US" u="sng" dirty="0" err="1"/>
              <a:t>strukturasining</a:t>
            </a:r>
            <a:r>
              <a:rPr lang="en-US" u="sng" dirty="0"/>
              <a:t> </a:t>
            </a:r>
            <a:r>
              <a:rPr lang="en-US" u="sng" dirty="0" err="1"/>
              <a:t>tuzilishi</a:t>
            </a:r>
            <a:r>
              <a:rPr lang="en-US" dirty="0"/>
              <a:t>:</a:t>
            </a:r>
          </a:p>
          <a:p>
            <a:pPr marL="0" indent="0" algn="just">
              <a:buNone/>
            </a:pPr>
            <a:r>
              <a:rPr lang="en-US" dirty="0"/>
              <a:t>2-dastur </a:t>
            </a:r>
            <a:r>
              <a:rPr lang="en-US" dirty="0" err="1"/>
              <a:t>tanasi</a:t>
            </a:r>
            <a:r>
              <a:rPr lang="en-US" dirty="0"/>
              <a:t>;</a:t>
            </a:r>
          </a:p>
          <a:p>
            <a:pPr marL="0" indent="0" algn="just">
              <a:buNone/>
            </a:pPr>
            <a:r>
              <a:rPr lang="en-US" dirty="0"/>
              <a:t>1-selector, </a:t>
            </a:r>
            <a:r>
              <a:rPr lang="en-US" dirty="0" err="1"/>
              <a:t>qiymatni</a:t>
            </a:r>
            <a:r>
              <a:rPr lang="en-US" dirty="0"/>
              <a:t> </a:t>
            </a:r>
            <a:r>
              <a:rPr lang="en-US" dirty="0" err="1"/>
              <a:t>aks</a:t>
            </a:r>
            <a:r>
              <a:rPr lang="en-US" dirty="0"/>
              <a:t> </a:t>
            </a:r>
            <a:r>
              <a:rPr lang="en-US" dirty="0" err="1"/>
              <a:t>ettirilishi</a:t>
            </a:r>
            <a:r>
              <a:rPr lang="en-US" dirty="0"/>
              <a:t> True </a:t>
            </a:r>
            <a:r>
              <a:rPr lang="en-US" dirty="0" err="1"/>
              <a:t>yoki</a:t>
            </a:r>
            <a:r>
              <a:rPr lang="en-US" dirty="0"/>
              <a:t> False, </a:t>
            </a:r>
            <a:r>
              <a:rPr lang="en-US" dirty="0" err="1"/>
              <a:t>tashqaridan</a:t>
            </a:r>
            <a:r>
              <a:rPr lang="en-US" dirty="0"/>
              <a:t> </a:t>
            </a:r>
            <a:r>
              <a:rPr lang="en-US" dirty="0" err="1"/>
              <a:t>kiritilgan</a:t>
            </a:r>
            <a:r>
              <a:rPr lang="en-US" dirty="0"/>
              <a:t> </a:t>
            </a:r>
            <a:r>
              <a:rPr lang="en-US" dirty="0" err="1"/>
              <a:t>ma’lumot</a:t>
            </a:r>
            <a:r>
              <a:rPr lang="en-US" dirty="0"/>
              <a:t> </a:t>
            </a:r>
            <a:r>
              <a:rPr lang="en-US" dirty="0" err="1"/>
              <a:t>qaysi</a:t>
            </a:r>
            <a:r>
              <a:rPr lang="en-US" dirty="0"/>
              <a:t> </a:t>
            </a:r>
            <a:r>
              <a:rPr lang="en-US" dirty="0" err="1"/>
              <a:t>qiymatga</a:t>
            </a:r>
            <a:r>
              <a:rPr lang="en-US" dirty="0"/>
              <a:t> </a:t>
            </a:r>
            <a:r>
              <a:rPr lang="en-US" dirty="0" err="1"/>
              <a:t>mos</a:t>
            </a:r>
            <a:r>
              <a:rPr lang="en-US" dirty="0"/>
              <a:t> </a:t>
            </a:r>
            <a:r>
              <a:rPr lang="en-US" dirty="0" err="1"/>
              <a:t>bo’lsa</a:t>
            </a:r>
            <a:r>
              <a:rPr lang="en-US" dirty="0"/>
              <a:t>, </a:t>
            </a:r>
            <a:r>
              <a:rPr lang="en-US" dirty="0" err="1"/>
              <a:t>dastur</a:t>
            </a:r>
            <a:r>
              <a:rPr lang="en-US" dirty="0"/>
              <a:t> </a:t>
            </a:r>
            <a:r>
              <a:rPr lang="en-US" dirty="0" err="1"/>
              <a:t>tanasidagi</a:t>
            </a:r>
            <a:r>
              <a:rPr lang="en-US" dirty="0"/>
              <a:t> </a:t>
            </a:r>
            <a:r>
              <a:rPr lang="en-US" dirty="0" err="1"/>
              <a:t>amal</a:t>
            </a:r>
            <a:r>
              <a:rPr lang="en-US" dirty="0"/>
              <a:t> </a:t>
            </a:r>
            <a:r>
              <a:rPr lang="en-US" dirty="0" err="1"/>
              <a:t>bajariladi</a:t>
            </a:r>
            <a:r>
              <a:rPr lang="en-US" dirty="0"/>
              <a:t>;</a:t>
            </a:r>
          </a:p>
          <a:p>
            <a:pPr marL="0" indent="0" algn="just">
              <a:buNone/>
            </a:pPr>
            <a:r>
              <a:rPr lang="en-US" dirty="0"/>
              <a:t>3- terminal, </a:t>
            </a:r>
            <a:r>
              <a:rPr lang="en-US" dirty="0" err="1"/>
              <a:t>qaysi</a:t>
            </a:r>
            <a:r>
              <a:rPr lang="en-US" dirty="0"/>
              <a:t> </a:t>
            </a:r>
            <a:r>
              <a:rPr lang="en-US" dirty="0" err="1"/>
              <a:t>blok-diagramma</a:t>
            </a:r>
            <a:r>
              <a:rPr lang="en-US" dirty="0"/>
              <a:t> </a:t>
            </a:r>
            <a:r>
              <a:rPr lang="en-US" dirty="0" err="1"/>
              <a:t>bajarilishini</a:t>
            </a:r>
            <a:r>
              <a:rPr lang="en-US" dirty="0"/>
              <a:t> </a:t>
            </a:r>
            <a:r>
              <a:rPr lang="en-US" dirty="0" err="1"/>
              <a:t>aniqlaydi</a:t>
            </a:r>
            <a:r>
              <a:rPr lang="en-US" dirty="0"/>
              <a:t>. </a:t>
            </a:r>
          </a:p>
          <a:p>
            <a:pPr marL="0" indent="0" algn="just">
              <a:buNone/>
            </a:pPr>
            <a:r>
              <a:rPr lang="en-US" dirty="0"/>
              <a:t>     -</a:t>
            </a:r>
            <a:r>
              <a:rPr lang="en-US" dirty="0" err="1"/>
              <a:t>ma’lumotlar</a:t>
            </a:r>
            <a:r>
              <a:rPr lang="en-US" dirty="0"/>
              <a:t> </a:t>
            </a:r>
            <a:r>
              <a:rPr lang="en-US" dirty="0" err="1"/>
              <a:t>selektorining</a:t>
            </a:r>
            <a:r>
              <a:rPr lang="en-US" dirty="0"/>
              <a:t> </a:t>
            </a:r>
            <a:r>
              <a:rPr lang="en-US" dirty="0" err="1"/>
              <a:t>terminali</a:t>
            </a:r>
            <a:r>
              <a:rPr lang="en-US" dirty="0"/>
              <a:t>, </a:t>
            </a:r>
            <a:r>
              <a:rPr lang="en-US" dirty="0" err="1"/>
              <a:t>qaysi</a:t>
            </a:r>
            <a:r>
              <a:rPr lang="en-US" dirty="0"/>
              <a:t> </a:t>
            </a:r>
            <a:r>
              <a:rPr lang="en-US" dirty="0" err="1"/>
              <a:t>amal</a:t>
            </a:r>
            <a:r>
              <a:rPr lang="en-US" dirty="0"/>
              <a:t> </a:t>
            </a:r>
            <a:r>
              <a:rPr lang="en-US" dirty="0" err="1"/>
              <a:t>bajarilishini</a:t>
            </a:r>
            <a:r>
              <a:rPr lang="en-US" dirty="0"/>
              <a:t> </a:t>
            </a:r>
            <a:r>
              <a:rPr lang="en-US" dirty="0" err="1"/>
              <a:t>belgilaydi</a:t>
            </a:r>
            <a:r>
              <a:rPr lang="en-US" dirty="0"/>
              <a:t>, True </a:t>
            </a:r>
            <a:r>
              <a:rPr lang="en-US" dirty="0" err="1"/>
              <a:t>holatidagi</a:t>
            </a:r>
            <a:r>
              <a:rPr lang="en-US" dirty="0"/>
              <a:t> mi </a:t>
            </a:r>
            <a:r>
              <a:rPr lang="en-US" dirty="0" err="1"/>
              <a:t>yoki</a:t>
            </a:r>
            <a:r>
              <a:rPr lang="en-US" dirty="0"/>
              <a:t> False </a:t>
            </a:r>
            <a:r>
              <a:rPr lang="en-US" dirty="0" err="1"/>
              <a:t>dagimi</a:t>
            </a:r>
            <a:endParaRPr lang="en-US" dirty="0"/>
          </a:p>
        </p:txBody>
      </p:sp>
      <p:sp>
        <p:nvSpPr>
          <p:cNvPr id="8" name="Объект 7">
            <a:extLst>
              <a:ext uri="{FF2B5EF4-FFF2-40B4-BE49-F238E27FC236}">
                <a16:creationId xmlns:a16="http://schemas.microsoft.com/office/drawing/2014/main" id="{87F977EF-959A-6050-93E5-E3ECE648994E}"/>
              </a:ext>
            </a:extLst>
          </p:cNvPr>
          <p:cNvSpPr>
            <a:spLocks noGrp="1"/>
          </p:cNvSpPr>
          <p:nvPr>
            <p:ph sz="half" idx="2"/>
          </p:nvPr>
        </p:nvSpPr>
        <p:spPr>
          <a:xfrm>
            <a:off x="6749592" y="1825625"/>
            <a:ext cx="4604208" cy="4351338"/>
          </a:xfrm>
        </p:spPr>
        <p:txBody>
          <a:bodyPr>
            <a:normAutofit fontScale="92500" lnSpcReduction="20000"/>
          </a:bodyPr>
          <a:lstStyle/>
          <a:p>
            <a:endParaRPr lang="ru-RU" dirty="0"/>
          </a:p>
        </p:txBody>
      </p:sp>
      <p:grpSp>
        <p:nvGrpSpPr>
          <p:cNvPr id="9" name="Group 195197">
            <a:extLst>
              <a:ext uri="{FF2B5EF4-FFF2-40B4-BE49-F238E27FC236}">
                <a16:creationId xmlns:a16="http://schemas.microsoft.com/office/drawing/2014/main" id="{1AA9005D-E79D-6D7B-8C2B-1A029BD0B59A}"/>
              </a:ext>
            </a:extLst>
          </p:cNvPr>
          <p:cNvGrpSpPr/>
          <p:nvPr/>
        </p:nvGrpSpPr>
        <p:grpSpPr>
          <a:xfrm>
            <a:off x="6713651" y="685750"/>
            <a:ext cx="5442407" cy="5872899"/>
            <a:chOff x="-3555" y="-3566"/>
            <a:chExt cx="3819143" cy="2779776"/>
          </a:xfrm>
        </p:grpSpPr>
        <p:pic>
          <p:nvPicPr>
            <p:cNvPr id="10" name="Picture 221559">
              <a:extLst>
                <a:ext uri="{FF2B5EF4-FFF2-40B4-BE49-F238E27FC236}">
                  <a16:creationId xmlns:a16="http://schemas.microsoft.com/office/drawing/2014/main" id="{D03C068D-0E69-5880-E32D-494A91B64E1C}"/>
                </a:ext>
              </a:extLst>
            </p:cNvPr>
            <p:cNvPicPr/>
            <p:nvPr/>
          </p:nvPicPr>
          <p:blipFill>
            <a:blip r:embed="rId2"/>
            <a:stretch>
              <a:fillRect/>
            </a:stretch>
          </p:blipFill>
          <p:spPr>
            <a:xfrm>
              <a:off x="-3555" y="-3566"/>
              <a:ext cx="853440" cy="2779776"/>
            </a:xfrm>
            <a:prstGeom prst="rect">
              <a:avLst/>
            </a:prstGeom>
          </p:spPr>
        </p:pic>
        <p:pic>
          <p:nvPicPr>
            <p:cNvPr id="11" name="Picture 221560">
              <a:extLst>
                <a:ext uri="{FF2B5EF4-FFF2-40B4-BE49-F238E27FC236}">
                  <a16:creationId xmlns:a16="http://schemas.microsoft.com/office/drawing/2014/main" id="{00AB5BF5-B3CF-98B2-C1E9-2E9F5404060C}"/>
                </a:ext>
              </a:extLst>
            </p:cNvPr>
            <p:cNvPicPr/>
            <p:nvPr/>
          </p:nvPicPr>
          <p:blipFill>
            <a:blip r:embed="rId3"/>
            <a:stretch>
              <a:fillRect/>
            </a:stretch>
          </p:blipFill>
          <p:spPr>
            <a:xfrm>
              <a:off x="847851" y="-3566"/>
              <a:ext cx="2734056" cy="2779776"/>
            </a:xfrm>
            <a:prstGeom prst="rect">
              <a:avLst/>
            </a:prstGeom>
          </p:spPr>
        </p:pic>
        <p:pic>
          <p:nvPicPr>
            <p:cNvPr id="12" name="Picture 221561">
              <a:extLst>
                <a:ext uri="{FF2B5EF4-FFF2-40B4-BE49-F238E27FC236}">
                  <a16:creationId xmlns:a16="http://schemas.microsoft.com/office/drawing/2014/main" id="{20CF21AB-1BE9-D11C-7724-861AEBFE8FCF}"/>
                </a:ext>
              </a:extLst>
            </p:cNvPr>
            <p:cNvPicPr/>
            <p:nvPr/>
          </p:nvPicPr>
          <p:blipFill>
            <a:blip r:embed="rId4"/>
            <a:stretch>
              <a:fillRect/>
            </a:stretch>
          </p:blipFill>
          <p:spPr>
            <a:xfrm>
              <a:off x="3580892" y="-3566"/>
              <a:ext cx="234696" cy="2779776"/>
            </a:xfrm>
            <a:prstGeom prst="rect">
              <a:avLst/>
            </a:prstGeom>
          </p:spPr>
        </p:pic>
      </p:grpSp>
      <p:pic>
        <p:nvPicPr>
          <p:cNvPr id="13" name="Picture 2542">
            <a:extLst>
              <a:ext uri="{FF2B5EF4-FFF2-40B4-BE49-F238E27FC236}">
                <a16:creationId xmlns:a16="http://schemas.microsoft.com/office/drawing/2014/main" id="{8370932B-26D1-2B85-4DC3-2A503439011A}"/>
              </a:ext>
            </a:extLst>
          </p:cNvPr>
          <p:cNvPicPr/>
          <p:nvPr/>
        </p:nvPicPr>
        <p:blipFill>
          <a:blip r:embed="rId5">
            <a:extLst>
              <a:ext uri="{BEBA8EAE-BF5A-486C-A8C5-ECC9F3942E4B}">
                <a14:imgProps xmlns:a14="http://schemas.microsoft.com/office/drawing/2010/main">
                  <a14:imgLayer r:embed="rId6">
                    <a14:imgEffect>
                      <a14:sharpenSoften amount="50000"/>
                    </a14:imgEffect>
                    <a14:imgEffect>
                      <a14:saturation sat="300000"/>
                    </a14:imgEffect>
                    <a14:imgEffect>
                      <a14:brightnessContrast contrast="-40000"/>
                    </a14:imgEffect>
                  </a14:imgLayer>
                </a14:imgProps>
              </a:ext>
            </a:extLst>
          </a:blip>
          <a:stretch>
            <a:fillRect/>
          </a:stretch>
        </p:blipFill>
        <p:spPr>
          <a:xfrm>
            <a:off x="435400" y="5376682"/>
            <a:ext cx="330200" cy="279400"/>
          </a:xfrm>
          <a:prstGeom prst="rect">
            <a:avLst/>
          </a:prstGeom>
        </p:spPr>
      </p:pic>
      <p:sp>
        <p:nvSpPr>
          <p:cNvPr id="3" name="Левая фигурная скобка 2">
            <a:extLst>
              <a:ext uri="{FF2B5EF4-FFF2-40B4-BE49-F238E27FC236}">
                <a16:creationId xmlns:a16="http://schemas.microsoft.com/office/drawing/2014/main" id="{DE7B193E-26D9-E595-E207-14D3049A5EE6}"/>
              </a:ext>
            </a:extLst>
          </p:cNvPr>
          <p:cNvSpPr/>
          <p:nvPr/>
        </p:nvSpPr>
        <p:spPr>
          <a:xfrm>
            <a:off x="527901" y="1825625"/>
            <a:ext cx="145199" cy="691332"/>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ru-RU"/>
          </a:p>
        </p:txBody>
      </p:sp>
    </p:spTree>
    <p:extLst>
      <p:ext uri="{BB962C8B-B14F-4D97-AF65-F5344CB8AC3E}">
        <p14:creationId xmlns:p14="http://schemas.microsoft.com/office/powerpoint/2010/main" val="1542326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2406D4-7DCB-BB2D-D669-310CEABF9E6A}"/>
              </a:ext>
            </a:extLst>
          </p:cNvPr>
          <p:cNvSpPr>
            <a:spLocks noGrp="1"/>
          </p:cNvSpPr>
          <p:nvPr>
            <p:ph type="title"/>
          </p:nvPr>
        </p:nvSpPr>
        <p:spPr>
          <a:xfrm>
            <a:off x="838200" y="1"/>
            <a:ext cx="10515600" cy="914400"/>
          </a:xfrm>
        </p:spPr>
        <p:txBody>
          <a:bodyPr>
            <a:normAutofit/>
          </a:bodyPr>
          <a:lstStyle/>
          <a:p>
            <a:pPr algn="ctr"/>
            <a:r>
              <a:rPr lang="en-US" dirty="0" err="1"/>
              <a:t>Sonni</a:t>
            </a:r>
            <a:r>
              <a:rPr lang="en-US" dirty="0"/>
              <a:t> </a:t>
            </a:r>
            <a:r>
              <a:rPr lang="en-US" dirty="0" err="1"/>
              <a:t>kvadrat</a:t>
            </a:r>
            <a:r>
              <a:rPr lang="en-US" dirty="0"/>
              <a:t> </a:t>
            </a:r>
            <a:r>
              <a:rPr lang="en-US" dirty="0" err="1"/>
              <a:t>ildizini</a:t>
            </a:r>
            <a:r>
              <a:rPr lang="en-US" dirty="0"/>
              <a:t> </a:t>
            </a:r>
            <a:r>
              <a:rPr lang="en-US" dirty="0" err="1"/>
              <a:t>hisoblash</a:t>
            </a:r>
            <a:endParaRPr lang="ru-RU" dirty="0"/>
          </a:p>
        </p:txBody>
      </p:sp>
      <p:pic>
        <p:nvPicPr>
          <p:cNvPr id="18" name="Объект 17">
            <a:extLst>
              <a:ext uri="{FF2B5EF4-FFF2-40B4-BE49-F238E27FC236}">
                <a16:creationId xmlns:a16="http://schemas.microsoft.com/office/drawing/2014/main" id="{75A73F6E-25A0-2564-A4A5-647F433ED33B}"/>
              </a:ext>
            </a:extLst>
          </p:cNvPr>
          <p:cNvPicPr>
            <a:picLocks noGrp="1" noChangeAspect="1"/>
          </p:cNvPicPr>
          <p:nvPr>
            <p:ph sz="half" idx="2"/>
          </p:nvPr>
        </p:nvPicPr>
        <p:blipFill>
          <a:blip r:embed="rId2"/>
          <a:stretch>
            <a:fillRect/>
          </a:stretch>
        </p:blipFill>
        <p:spPr>
          <a:xfrm>
            <a:off x="6810865" y="3805761"/>
            <a:ext cx="4707904" cy="3052238"/>
          </a:xfrm>
        </p:spPr>
      </p:pic>
      <p:pic>
        <p:nvPicPr>
          <p:cNvPr id="16" name="Объект 15">
            <a:extLst>
              <a:ext uri="{FF2B5EF4-FFF2-40B4-BE49-F238E27FC236}">
                <a16:creationId xmlns:a16="http://schemas.microsoft.com/office/drawing/2014/main" id="{F097C3D1-0590-9324-E36B-632BB1125565}"/>
              </a:ext>
            </a:extLst>
          </p:cNvPr>
          <p:cNvPicPr>
            <a:picLocks noGrp="1" noChangeAspect="1"/>
          </p:cNvPicPr>
          <p:nvPr>
            <p:ph sz="half" idx="1"/>
          </p:nvPr>
        </p:nvPicPr>
        <p:blipFill>
          <a:blip r:embed="rId3"/>
          <a:stretch>
            <a:fillRect/>
          </a:stretch>
        </p:blipFill>
        <p:spPr>
          <a:xfrm>
            <a:off x="1956940" y="3815368"/>
            <a:ext cx="4359018" cy="3033023"/>
          </a:xfrm>
        </p:spPr>
      </p:pic>
      <p:pic>
        <p:nvPicPr>
          <p:cNvPr id="12" name="Рисунок 11">
            <a:extLst>
              <a:ext uri="{FF2B5EF4-FFF2-40B4-BE49-F238E27FC236}">
                <a16:creationId xmlns:a16="http://schemas.microsoft.com/office/drawing/2014/main" id="{9F217723-1394-C9A6-4819-397C892FF61F}"/>
              </a:ext>
            </a:extLst>
          </p:cNvPr>
          <p:cNvPicPr>
            <a:picLocks noChangeAspect="1"/>
          </p:cNvPicPr>
          <p:nvPr/>
        </p:nvPicPr>
        <p:blipFill>
          <a:blip r:embed="rId4"/>
          <a:stretch>
            <a:fillRect/>
          </a:stretch>
        </p:blipFill>
        <p:spPr>
          <a:xfrm>
            <a:off x="1956940" y="843647"/>
            <a:ext cx="4359018" cy="2730700"/>
          </a:xfrm>
          <a:prstGeom prst="rect">
            <a:avLst/>
          </a:prstGeom>
        </p:spPr>
      </p:pic>
      <p:pic>
        <p:nvPicPr>
          <p:cNvPr id="14" name="Рисунок 13">
            <a:extLst>
              <a:ext uri="{FF2B5EF4-FFF2-40B4-BE49-F238E27FC236}">
                <a16:creationId xmlns:a16="http://schemas.microsoft.com/office/drawing/2014/main" id="{8F9F1F96-AEB6-E629-47E1-CAA013365014}"/>
              </a:ext>
            </a:extLst>
          </p:cNvPr>
          <p:cNvPicPr>
            <a:picLocks noChangeAspect="1"/>
          </p:cNvPicPr>
          <p:nvPr/>
        </p:nvPicPr>
        <p:blipFill>
          <a:blip r:embed="rId5"/>
          <a:stretch>
            <a:fillRect/>
          </a:stretch>
        </p:blipFill>
        <p:spPr>
          <a:xfrm>
            <a:off x="6810866" y="821843"/>
            <a:ext cx="4707903" cy="2752504"/>
          </a:xfrm>
          <a:prstGeom prst="rect">
            <a:avLst/>
          </a:prstGeom>
        </p:spPr>
      </p:pic>
    </p:spTree>
    <p:extLst>
      <p:ext uri="{BB962C8B-B14F-4D97-AF65-F5344CB8AC3E}">
        <p14:creationId xmlns:p14="http://schemas.microsoft.com/office/powerpoint/2010/main" val="2079254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A563BC-9F1D-8CA6-8570-9714C6ABC72E}"/>
              </a:ext>
            </a:extLst>
          </p:cNvPr>
          <p:cNvSpPr>
            <a:spLocks noGrp="1"/>
          </p:cNvSpPr>
          <p:nvPr>
            <p:ph type="title"/>
          </p:nvPr>
        </p:nvSpPr>
        <p:spPr>
          <a:xfrm>
            <a:off x="838200" y="-86889"/>
            <a:ext cx="10515600" cy="791851"/>
          </a:xfrm>
        </p:spPr>
        <p:txBody>
          <a:bodyPr>
            <a:normAutofit/>
          </a:bodyPr>
          <a:lstStyle/>
          <a:p>
            <a:pPr algn="ctr"/>
            <a:r>
              <a:rPr lang="en-US" b="1" dirty="0" err="1"/>
              <a:t>Grafik</a:t>
            </a:r>
            <a:r>
              <a:rPr lang="en-US" b="1" dirty="0"/>
              <a:t> </a:t>
            </a:r>
            <a:r>
              <a:rPr lang="en-US" b="1" dirty="0" err="1"/>
              <a:t>qurish</a:t>
            </a:r>
            <a:endParaRPr lang="ru-RU" b="1" dirty="0"/>
          </a:p>
        </p:txBody>
      </p:sp>
      <p:pic>
        <p:nvPicPr>
          <p:cNvPr id="6" name="Объект 5">
            <a:extLst>
              <a:ext uri="{FF2B5EF4-FFF2-40B4-BE49-F238E27FC236}">
                <a16:creationId xmlns:a16="http://schemas.microsoft.com/office/drawing/2014/main" id="{B405639C-319E-15B8-9640-7F9A02ADFAC1}"/>
              </a:ext>
            </a:extLst>
          </p:cNvPr>
          <p:cNvPicPr>
            <a:picLocks noGrp="1" noChangeAspect="1"/>
          </p:cNvPicPr>
          <p:nvPr>
            <p:ph sz="half" idx="1"/>
          </p:nvPr>
        </p:nvPicPr>
        <p:blipFill>
          <a:blip r:embed="rId2"/>
          <a:stretch>
            <a:fillRect/>
          </a:stretch>
        </p:blipFill>
        <p:spPr>
          <a:xfrm>
            <a:off x="1084309" y="662742"/>
            <a:ext cx="5380101" cy="2961664"/>
          </a:xfrm>
        </p:spPr>
      </p:pic>
      <p:pic>
        <p:nvPicPr>
          <p:cNvPr id="12" name="Объект 11">
            <a:extLst>
              <a:ext uri="{FF2B5EF4-FFF2-40B4-BE49-F238E27FC236}">
                <a16:creationId xmlns:a16="http://schemas.microsoft.com/office/drawing/2014/main" id="{3551CA85-702A-3C0E-44F0-A16493D1D09F}"/>
              </a:ext>
            </a:extLst>
          </p:cNvPr>
          <p:cNvPicPr>
            <a:picLocks noGrp="1" noChangeAspect="1"/>
          </p:cNvPicPr>
          <p:nvPr>
            <p:ph sz="half" idx="2"/>
          </p:nvPr>
        </p:nvPicPr>
        <p:blipFill>
          <a:blip r:embed="rId3"/>
          <a:stretch>
            <a:fillRect/>
          </a:stretch>
        </p:blipFill>
        <p:spPr>
          <a:xfrm>
            <a:off x="6745416" y="3804721"/>
            <a:ext cx="5181600" cy="2938381"/>
          </a:xfrm>
        </p:spPr>
      </p:pic>
      <p:pic>
        <p:nvPicPr>
          <p:cNvPr id="8" name="Рисунок 7">
            <a:extLst>
              <a:ext uri="{FF2B5EF4-FFF2-40B4-BE49-F238E27FC236}">
                <a16:creationId xmlns:a16="http://schemas.microsoft.com/office/drawing/2014/main" id="{805AAD5A-F333-7625-7BAF-696803665CCE}"/>
              </a:ext>
            </a:extLst>
          </p:cNvPr>
          <p:cNvPicPr>
            <a:picLocks noChangeAspect="1"/>
          </p:cNvPicPr>
          <p:nvPr/>
        </p:nvPicPr>
        <p:blipFill>
          <a:blip r:embed="rId4"/>
          <a:stretch>
            <a:fillRect/>
          </a:stretch>
        </p:blipFill>
        <p:spPr>
          <a:xfrm>
            <a:off x="6710519" y="704962"/>
            <a:ext cx="5040760" cy="2877223"/>
          </a:xfrm>
          <a:prstGeom prst="rect">
            <a:avLst/>
          </a:prstGeom>
        </p:spPr>
      </p:pic>
      <p:pic>
        <p:nvPicPr>
          <p:cNvPr id="10" name="Рисунок 9">
            <a:extLst>
              <a:ext uri="{FF2B5EF4-FFF2-40B4-BE49-F238E27FC236}">
                <a16:creationId xmlns:a16="http://schemas.microsoft.com/office/drawing/2014/main" id="{E8F84CCB-FB7B-C240-B26F-FA2F977FA6B3}"/>
              </a:ext>
            </a:extLst>
          </p:cNvPr>
          <p:cNvPicPr>
            <a:picLocks noChangeAspect="1"/>
          </p:cNvPicPr>
          <p:nvPr/>
        </p:nvPicPr>
        <p:blipFill>
          <a:blip r:embed="rId5"/>
          <a:stretch>
            <a:fillRect/>
          </a:stretch>
        </p:blipFill>
        <p:spPr>
          <a:xfrm>
            <a:off x="1200782" y="3804721"/>
            <a:ext cx="5509737" cy="3260632"/>
          </a:xfrm>
          <a:prstGeom prst="rect">
            <a:avLst/>
          </a:prstGeom>
        </p:spPr>
      </p:pic>
      <p:sp>
        <p:nvSpPr>
          <p:cNvPr id="13" name="TextBox 12">
            <a:extLst>
              <a:ext uri="{FF2B5EF4-FFF2-40B4-BE49-F238E27FC236}">
                <a16:creationId xmlns:a16="http://schemas.microsoft.com/office/drawing/2014/main" id="{61920294-6BF1-D9F8-E4D5-B9B3535B3FE1}"/>
              </a:ext>
            </a:extLst>
          </p:cNvPr>
          <p:cNvSpPr txBox="1"/>
          <p:nvPr/>
        </p:nvSpPr>
        <p:spPr>
          <a:xfrm>
            <a:off x="602541" y="25965"/>
            <a:ext cx="1196481" cy="369332"/>
          </a:xfrm>
          <a:prstGeom prst="rect">
            <a:avLst/>
          </a:prstGeom>
          <a:noFill/>
          <a:ln w="28575">
            <a:solidFill>
              <a:schemeClr val="accent2">
                <a:lumMod val="75000"/>
              </a:schemeClr>
            </a:solidFill>
          </a:ln>
        </p:spPr>
        <p:txBody>
          <a:bodyPr wrap="none" rtlCol="0">
            <a:spAutoFit/>
          </a:bodyPr>
          <a:lstStyle/>
          <a:p>
            <a:r>
              <a:rPr lang="en-US" dirty="0" err="1"/>
              <a:t>Combobox</a:t>
            </a:r>
            <a:endParaRPr lang="ru-RU" dirty="0"/>
          </a:p>
        </p:txBody>
      </p:sp>
      <p:cxnSp>
        <p:nvCxnSpPr>
          <p:cNvPr id="15" name="Прямая со стрелкой 14">
            <a:extLst>
              <a:ext uri="{FF2B5EF4-FFF2-40B4-BE49-F238E27FC236}">
                <a16:creationId xmlns:a16="http://schemas.microsoft.com/office/drawing/2014/main" id="{4DEA903C-CB6A-A4C8-DA49-008043DAA4B2}"/>
              </a:ext>
            </a:extLst>
          </p:cNvPr>
          <p:cNvCxnSpPr/>
          <p:nvPr/>
        </p:nvCxnSpPr>
        <p:spPr>
          <a:xfrm>
            <a:off x="923827" y="387919"/>
            <a:ext cx="622169" cy="539579"/>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B73300B-6712-079C-83F3-AB99C73E8316}"/>
              </a:ext>
            </a:extLst>
          </p:cNvPr>
          <p:cNvSpPr txBox="1"/>
          <p:nvPr/>
        </p:nvSpPr>
        <p:spPr>
          <a:xfrm>
            <a:off x="2648158" y="25965"/>
            <a:ext cx="871072" cy="369332"/>
          </a:xfrm>
          <a:prstGeom prst="rect">
            <a:avLst/>
          </a:prstGeom>
          <a:noFill/>
          <a:ln w="28575">
            <a:solidFill>
              <a:schemeClr val="accent2">
                <a:lumMod val="75000"/>
              </a:schemeClr>
            </a:solidFill>
          </a:ln>
        </p:spPr>
        <p:txBody>
          <a:bodyPr wrap="square" rtlCol="0">
            <a:spAutoFit/>
          </a:bodyPr>
          <a:lstStyle/>
          <a:p>
            <a:r>
              <a:rPr lang="en-US" dirty="0"/>
              <a:t>XY Graf</a:t>
            </a:r>
            <a:endParaRPr lang="ru-RU" dirty="0"/>
          </a:p>
        </p:txBody>
      </p:sp>
      <p:cxnSp>
        <p:nvCxnSpPr>
          <p:cNvPr id="17" name="Прямая со стрелкой 16">
            <a:extLst>
              <a:ext uri="{FF2B5EF4-FFF2-40B4-BE49-F238E27FC236}">
                <a16:creationId xmlns:a16="http://schemas.microsoft.com/office/drawing/2014/main" id="{061D1CEC-29C6-4C19-562A-CFB9F7E18EA7}"/>
              </a:ext>
            </a:extLst>
          </p:cNvPr>
          <p:cNvCxnSpPr>
            <a:cxnSpLocks/>
          </p:cNvCxnSpPr>
          <p:nvPr/>
        </p:nvCxnSpPr>
        <p:spPr>
          <a:xfrm>
            <a:off x="3057437" y="435172"/>
            <a:ext cx="782651" cy="709756"/>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1FF2519-204F-A3F1-FA2E-BEB159148BEB}"/>
              </a:ext>
            </a:extLst>
          </p:cNvPr>
          <p:cNvSpPr txBox="1"/>
          <p:nvPr/>
        </p:nvSpPr>
        <p:spPr>
          <a:xfrm>
            <a:off x="8169403" y="124371"/>
            <a:ext cx="2162373" cy="646331"/>
          </a:xfrm>
          <a:prstGeom prst="rect">
            <a:avLst/>
          </a:prstGeom>
          <a:noFill/>
          <a:ln w="28575">
            <a:solidFill>
              <a:schemeClr val="accent2">
                <a:lumMod val="75000"/>
              </a:schemeClr>
            </a:solidFill>
          </a:ln>
        </p:spPr>
        <p:txBody>
          <a:bodyPr wrap="square" rtlCol="0">
            <a:spAutoFit/>
          </a:bodyPr>
          <a:lstStyle/>
          <a:p>
            <a:r>
              <a:rPr lang="en-US" dirty="0"/>
              <a:t>Bir </a:t>
            </a:r>
            <a:r>
              <a:rPr lang="en-US" dirty="0" err="1"/>
              <a:t>davrda</a:t>
            </a:r>
            <a:r>
              <a:rPr lang="en-US" dirty="0"/>
              <a:t> </a:t>
            </a:r>
            <a:r>
              <a:rPr lang="en-US" dirty="0" err="1"/>
              <a:t>bajarilishi</a:t>
            </a:r>
            <a:r>
              <a:rPr lang="en-US" dirty="0"/>
              <a:t> </a:t>
            </a:r>
            <a:r>
              <a:rPr lang="en-US" dirty="0" err="1"/>
              <a:t>uchun</a:t>
            </a:r>
            <a:r>
              <a:rPr lang="en-US" dirty="0"/>
              <a:t> </a:t>
            </a:r>
            <a:r>
              <a:rPr lang="en-US" dirty="0" err="1"/>
              <a:t>qadamlar</a:t>
            </a:r>
            <a:r>
              <a:rPr lang="en-US" dirty="0"/>
              <a:t> </a:t>
            </a:r>
            <a:r>
              <a:rPr lang="en-US" dirty="0" err="1"/>
              <a:t>soni</a:t>
            </a:r>
            <a:endParaRPr lang="ru-RU" dirty="0"/>
          </a:p>
        </p:txBody>
      </p:sp>
      <p:cxnSp>
        <p:nvCxnSpPr>
          <p:cNvPr id="20" name="Прямая со стрелкой 19">
            <a:extLst>
              <a:ext uri="{FF2B5EF4-FFF2-40B4-BE49-F238E27FC236}">
                <a16:creationId xmlns:a16="http://schemas.microsoft.com/office/drawing/2014/main" id="{677C662C-24B3-823C-2143-4FAA9786121F}"/>
              </a:ext>
            </a:extLst>
          </p:cNvPr>
          <p:cNvCxnSpPr>
            <a:cxnSpLocks/>
          </p:cNvCxnSpPr>
          <p:nvPr/>
        </p:nvCxnSpPr>
        <p:spPr>
          <a:xfrm flipH="1">
            <a:off x="6925581" y="395297"/>
            <a:ext cx="1243823" cy="394753"/>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E1D8126-370A-F2AF-97A7-60CD8EB1521E}"/>
              </a:ext>
            </a:extLst>
          </p:cNvPr>
          <p:cNvSpPr txBox="1"/>
          <p:nvPr/>
        </p:nvSpPr>
        <p:spPr>
          <a:xfrm>
            <a:off x="10935093" y="1610686"/>
            <a:ext cx="1187777" cy="646331"/>
          </a:xfrm>
          <a:prstGeom prst="rect">
            <a:avLst/>
          </a:prstGeom>
          <a:noFill/>
          <a:ln w="28575">
            <a:solidFill>
              <a:schemeClr val="accent2">
                <a:lumMod val="75000"/>
              </a:schemeClr>
            </a:solidFill>
          </a:ln>
        </p:spPr>
        <p:txBody>
          <a:bodyPr wrap="square" rtlCol="0">
            <a:spAutoFit/>
          </a:bodyPr>
          <a:lstStyle/>
          <a:p>
            <a:r>
              <a:rPr lang="en-US" dirty="0"/>
              <a:t>Bundle </a:t>
            </a:r>
            <a:r>
              <a:rPr lang="en-US" dirty="0" err="1"/>
              <a:t>funktsiyasi</a:t>
            </a:r>
            <a:endParaRPr lang="ru-RU" dirty="0"/>
          </a:p>
        </p:txBody>
      </p:sp>
      <p:cxnSp>
        <p:nvCxnSpPr>
          <p:cNvPr id="23" name="Прямая со стрелкой 22">
            <a:extLst>
              <a:ext uri="{FF2B5EF4-FFF2-40B4-BE49-F238E27FC236}">
                <a16:creationId xmlns:a16="http://schemas.microsoft.com/office/drawing/2014/main" id="{CD84020F-E430-7B22-88B0-422D049A5DA2}"/>
              </a:ext>
            </a:extLst>
          </p:cNvPr>
          <p:cNvCxnSpPr>
            <a:cxnSpLocks/>
          </p:cNvCxnSpPr>
          <p:nvPr/>
        </p:nvCxnSpPr>
        <p:spPr>
          <a:xfrm flipH="1">
            <a:off x="11107691" y="2252666"/>
            <a:ext cx="421290" cy="778202"/>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7537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0BE13869-6944-4470-5466-3D141CF1B3A6}"/>
              </a:ext>
            </a:extLst>
          </p:cNvPr>
          <p:cNvSpPr>
            <a:spLocks noGrp="1"/>
          </p:cNvSpPr>
          <p:nvPr>
            <p:ph sz="half" idx="1"/>
          </p:nvPr>
        </p:nvSpPr>
        <p:spPr/>
        <p:txBody>
          <a:bodyPr/>
          <a:lstStyle/>
          <a:p>
            <a:endParaRPr lang="ru-RU"/>
          </a:p>
        </p:txBody>
      </p:sp>
      <p:sp>
        <p:nvSpPr>
          <p:cNvPr id="4" name="Объект 3">
            <a:extLst>
              <a:ext uri="{FF2B5EF4-FFF2-40B4-BE49-F238E27FC236}">
                <a16:creationId xmlns:a16="http://schemas.microsoft.com/office/drawing/2014/main" id="{0E195E90-E6B2-F8D4-BFA2-1798FC5CC4B7}"/>
              </a:ext>
            </a:extLst>
          </p:cNvPr>
          <p:cNvSpPr>
            <a:spLocks noGrp="1"/>
          </p:cNvSpPr>
          <p:nvPr>
            <p:ph sz="half" idx="2"/>
          </p:nvPr>
        </p:nvSpPr>
        <p:spPr/>
        <p:txBody>
          <a:bodyPr/>
          <a:lstStyle/>
          <a:p>
            <a:endParaRPr lang="ru-RU"/>
          </a:p>
        </p:txBody>
      </p:sp>
    </p:spTree>
    <p:extLst>
      <p:ext uri="{BB962C8B-B14F-4D97-AF65-F5344CB8AC3E}">
        <p14:creationId xmlns:p14="http://schemas.microsoft.com/office/powerpoint/2010/main" val="99677453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414</Words>
  <Application>Microsoft Office PowerPoint</Application>
  <PresentationFormat>Широкоэкранный</PresentationFormat>
  <Paragraphs>34</Paragraphs>
  <Slides>7</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7</vt:i4>
      </vt:variant>
    </vt:vector>
  </HeadingPairs>
  <TitlesOfParts>
    <vt:vector size="12" baseType="lpstr">
      <vt:lpstr>Arial</vt:lpstr>
      <vt:lpstr>Calibri</vt:lpstr>
      <vt:lpstr>Calibri Light</vt:lpstr>
      <vt:lpstr>Times</vt:lpstr>
      <vt:lpstr>Тема Office</vt:lpstr>
      <vt:lpstr>Labview dasturida tarmoqlanish jarayoni. Case strukturasi</vt:lpstr>
      <vt:lpstr>Reja</vt:lpstr>
      <vt:lpstr>Tsiklni bajarilishini vaqt bilan boshqarish</vt:lpstr>
      <vt:lpstr>Varianta strukturasi (Case strukture)</vt:lpstr>
      <vt:lpstr>Sonni kvadrat ildizini hisoblash</vt:lpstr>
      <vt:lpstr>Grafik qurish</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ORGTech</dc:creator>
  <cp:lastModifiedBy>ORGTech</cp:lastModifiedBy>
  <cp:revision>1</cp:revision>
  <dcterms:created xsi:type="dcterms:W3CDTF">2024-10-28T18:33:48Z</dcterms:created>
  <dcterms:modified xsi:type="dcterms:W3CDTF">2024-10-28T18:34:16Z</dcterms:modified>
</cp:coreProperties>
</file>